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1a53be9-4c94-9cfb-9697-8e0afe5f104f}">
          <p14:sldIdLst>
            <p14:sldId id="256"/>
          </p14:sldIdLst>
        </p14:section>
        <p14:section name="Problem" id="{e112ca96-a655-2fd8-c13a-46a9c750e094}">
          <p14:sldIdLst>
            <p14:sldId id="257"/>
          </p14:sldIdLst>
        </p14:section>
        <p14:section name="Product" id="{9c0eee08-9ab8-4654-749a-38eb0211f9d8}">
          <p14:sldIdLst>
            <p14:sldId id="258"/>
            <p14:sldId id="259"/>
            <p14:sldId id="260"/>
          </p14:sldIdLst>
        </p14:section>
        <p14:section name="Proof" id="{b8b7d58a-9ffc-0683-ebfe-a89a0c89a80f}">
          <p14:sldIdLst>
            <p14:sldId id="261"/>
            <p14:sldId id="262"/>
          </p14:sldIdLst>
        </p14:section>
        <p14:section name="Experience" id="{a2c40660-20c4-5ddc-747d-ababcdc7167f}">
          <p14:sldIdLst>
            <p14:sldId id="263"/>
            <p14:sldId id="264"/>
          </p14:sldIdLst>
        </p14:section>
        <p14:section name="Close" id="{3a97b724-cb84-1d20-bc92-055e4b3adbd1}">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Tablekeeper is a restaurant booking system with one promise: it never gives the same table to two parties at the same time. Not when two people click at once, not when a request is retried, and not when the clocks change. I will show the product live, then show how we know the promise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Double-bookings come from three places. Two people racing for the same table. The same request arriving twice. And clock changes, where a time either does not exist or exists twice. Tablekeeper handles all three at the database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in Set up, keep Demo Bistro, choose a time zone, click Create restaurant, then Create table. In Book, pick tomorrow at 19:00 for 2 people, 90 minutes, and click Book table. Scroll to Confirm: everything shown is read back from the server, with the start time in UTC and in the restaurant's local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click Retry same request. The page says Already booked, this request replayed the original booking. Double-clicks and dropped connections can never create a second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change the time to 19:30 and click Book table. It is refused with SLOT_TAKEN because it overlaps the 19:00 booking. Under the hood every booking is stored as 15-minute blocks, and a table can hold each block only once. Then change the time to 21:00 and book again: that one succeeds.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live run on this machine: twenty booking requests for the same table and the same time, fired at the same instant. Exactly one wins and nineteen are refused. Request 1 is not special: whichever reaches the database first wins. The automated suite goes further, with 12 separate processes racing on one database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Times are stored once in UTC and shown in the restaurant's time zone. On daylight-saving nights, a time that does not exist is refused, and a time that happens twice must say which one is meant. The server's own clock setting never changes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uses soft pastel cards, one per step, with a custom cursor that grows over anything clickable. It follows the system dark mode and collapses to a single column on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was built in four stages, and each stage had to prove its claims before the next one opened. The guarantee came first, then search, then hardening, and finally the product you just saw. It runs on Node.js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promise, kept at the database: zero double-bookings.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691640"/>
            <a:ext cx="5120640" cy="105156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
        <p:nvSpPr>
          <p:cNvPr id="3" name="Text 0"/>
          <p:cNvSpPr/>
          <p:nvPr>
            <p:ph idx="101" type="body" hasCustomPrompt="1"/>
          </p:nvPr>
        </p:nvSpPr>
        <p:spPr>
          <a:xfrm>
            <a:off x="640080" y="2788920"/>
            <a:ext cx="4846320" cy="91440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731520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640080" y="786384"/>
            <a:ext cx="10911535"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640080" y="6355080"/>
            <a:ext cx="2743200" cy="274320"/>
          </a:xfrm>
          <a:prstGeom prst="rect">
            <a:avLst/>
          </a:prstGeom>
          <a:noFill/>
          <a:ln/>
        </p:spPr>
        <p:txBody>
          <a:bodyPr wrap="square" lIns="0" tIns="0" rIns="0" bIns="0" rtlCol="0" anchor="t"/>
          <a:lstStyle/>
          <a:p>
            <a:pPr indent="0" marL="0">
              <a:buNone/>
            </a:pPr>
            <a:r>
              <a:rPr lang="en-US" sz="1000" dirty="0">
                <a:solidFill>
                  <a:schemeClr val="tx2"/>
                </a:solidFill>
              </a:rPr>
              <a:t>Tablekeeper</a:t>
            </a:r>
            <a:endParaRPr lang="en-US" sz="10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331720"/>
            <a:ext cx="10911535" cy="1097280"/>
          </a:xfrm>
          <a:prstGeom prst="rect">
            <a:avLst/>
          </a:prstGeom>
          <a:noFill/>
          <a:ln/>
        </p:spPr>
        <p:txBody>
          <a:bodyPr wrap="square" rtlCol="0"/>
          <a:lstStyle>
            <a:lvl1pPr algn="ctr" indent="0" marL="0">
              <a:buNone/>
              <a:defRPr lang="en-US" sz="5400" b="1" dirty="0">
                <a:solidFill>
                  <a:schemeClr val="tx1"/>
                </a:solidFill>
              </a:defRPr>
            </a:lvl1pPr>
          </a:lstStyle>
          <a:p>
            <a:pPr algn="ctr" indent="0" marL="0">
              <a:buNone/>
            </a:pPr>
            <a:endParaRPr lang="en-US" sz="5400" dirty="0"/>
          </a:p>
        </p:txBody>
      </p:sp>
      <p:sp>
        <p:nvSpPr>
          <p:cNvPr id="3" name="Text 0"/>
          <p:cNvSpPr/>
          <p:nvPr>
            <p:ph idx="101" type="body" hasCustomPrompt="1"/>
          </p:nvPr>
        </p:nvSpPr>
        <p:spPr>
          <a:xfrm>
            <a:off x="2011680" y="3520440"/>
            <a:ext cx="8168335" cy="548640"/>
          </a:xfrm>
          <a:prstGeom prst="rect">
            <a:avLst/>
          </a:prstGeom>
          <a:noFill/>
          <a:ln/>
        </p:spPr>
        <p:txBody>
          <a:bodyPr wrap="square" rtlCol="0"/>
          <a:lstStyle>
            <a:lvl1pPr algn="ctr" indent="0" marL="0">
              <a:buNone/>
              <a:defRPr lang="en-US" sz="2000" dirty="0">
                <a:solidFill>
                  <a:schemeClr val="tx2"/>
                </a:solidFill>
              </a:defRPr>
            </a:lvl1pPr>
          </a:lstStyle>
          <a:p>
            <a:pPr algn="ctr"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ithub.com/natchaphat5106-collab/dark-factory-tablekeeper" TargetMode="Externa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kicker"/>
          <p:cNvSpPr txBox="1"/>
          <p:nvPr/>
        </p:nvSpPr>
        <p:spPr>
          <a:xfrm>
            <a:off x="640080" y="1280160"/>
            <a:ext cx="36576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LIVE PRODUCT DEMO</a:t>
            </a:r>
            <a:endParaRPr lang="en-US" sz="1200" dirty="0"/>
          </a:p>
        </p:txBody>
      </p:sp>
      <p:sp>
        <p:nvSpPr>
          <p:cNvPr id="3" name="Text 0"/>
          <p:cNvSpPr/>
          <p:nvPr>
            <p:ph idx="100" type="title" hasCustomPrompt="1"/>
          </p:nvPr>
        </p:nvSpPr>
        <p:spPr>
          <a:xfrm>
            <a:off x="640080" y="1691640"/>
            <a:ext cx="5120640" cy="1051560"/>
          </a:xfrm>
          <a:prstGeom prst="rect">
            <a:avLst/>
          </a:prstGeom>
          <a:noFill/>
          <a:ln/>
        </p:spPr>
        <p:txBody>
          <a:bodyPr wrap="square" lIns="0" tIns="0" rIns="0" bIns="0" rtlCol="0" anchor="t"/>
          <a:lstStyle/>
          <a:p>
            <a:pPr algn="l" indent="0" marL="0">
              <a:buNone/>
            </a:pPr>
            <a:r>
              <a:rPr lang="en-US" sz="5400" b="1" dirty="0">
                <a:solidFill>
                  <a:schemeClr val="tx1"/>
                </a:solidFill>
              </a:rPr>
              <a:t>Tablekeeper</a:t>
            </a:r>
            <a:endParaRPr lang="en-US" sz="5400" dirty="0"/>
          </a:p>
        </p:txBody>
      </p:sp>
      <p:sp>
        <p:nvSpPr>
          <p:cNvPr id="4" name="Text 0"/>
          <p:cNvSpPr/>
          <p:nvPr>
            <p:ph idx="101" type="body" hasCustomPrompt="1"/>
          </p:nvPr>
        </p:nvSpPr>
        <p:spPr>
          <a:xfrm>
            <a:off x="640080" y="2788920"/>
            <a:ext cx="4846320" cy="914400"/>
          </a:xfrm>
          <a:prstGeom prst="rect">
            <a:avLst/>
          </a:prstGeom>
          <a:noFill/>
          <a:ln/>
        </p:spPr>
        <p:txBody>
          <a:bodyPr wrap="square" lIns="0" tIns="0" rIns="0" bIns="0" rtlCol="0" anchor="t"/>
          <a:lstStyle/>
          <a:p>
            <a:pPr algn="l" indent="0" marL="0">
              <a:buNone/>
            </a:pPr>
            <a:r>
              <a:rPr lang="en-US" sz="2000" dirty="0">
                <a:solidFill>
                  <a:schemeClr val="tx2"/>
                </a:solidFill>
              </a:rPr>
              <a:t>Restaurant reservations that cannot double‑book.</a:t>
            </a:r>
            <a:endParaRPr lang="en-US" sz="2000" dirty="0"/>
          </a:p>
        </p:txBody>
      </p:sp>
      <p:sp>
        <p:nvSpPr>
          <p:cNvPr id="5" name="Cover stat 1 value"/>
          <p:cNvSpPr txBox="1"/>
          <p:nvPr/>
        </p:nvSpPr>
        <p:spPr>
          <a:xfrm>
            <a:off x="640080" y="4480560"/>
            <a:ext cx="1600200" cy="502920"/>
          </a:xfrm>
          <a:prstGeom prst="rect">
            <a:avLst/>
          </a:prstGeom>
          <a:noFill/>
          <a:ln/>
        </p:spPr>
        <p:txBody>
          <a:bodyPr wrap="square" lIns="0" tIns="0" rIns="0" bIns="0" rtlCol="0" anchor="t"/>
          <a:lstStyle/>
          <a:p>
            <a:pPr indent="0" marL="0">
              <a:buNone/>
            </a:pPr>
            <a:r>
              <a:rPr lang="en-US" sz="3000" b="1" dirty="0">
                <a:solidFill>
                  <a:schemeClr val="tx1"/>
                </a:solidFill>
              </a:rPr>
              <a:t>0</a:t>
            </a:r>
            <a:endParaRPr lang="en-US" sz="3000" dirty="0"/>
          </a:p>
        </p:txBody>
      </p:sp>
      <p:sp>
        <p:nvSpPr>
          <p:cNvPr id="6" name="Cover stat 1 label"/>
          <p:cNvSpPr txBox="1"/>
          <p:nvPr/>
        </p:nvSpPr>
        <p:spPr>
          <a:xfrm>
            <a:off x="640080" y="5029200"/>
            <a:ext cx="1600200" cy="411480"/>
          </a:xfrm>
          <a:prstGeom prst="rect">
            <a:avLst/>
          </a:prstGeom>
          <a:noFill/>
          <a:ln/>
        </p:spPr>
        <p:txBody>
          <a:bodyPr wrap="square" lIns="0" tIns="0" rIns="0" bIns="0" rtlCol="0" anchor="t"/>
          <a:lstStyle/>
          <a:p>
            <a:pPr indent="0" marL="0">
              <a:buNone/>
            </a:pPr>
            <a:r>
              <a:rPr lang="en-US" sz="1200" dirty="0">
                <a:solidFill>
                  <a:schemeClr val="tx2"/>
                </a:solidFill>
              </a:rPr>
              <a:t>double-bookings</a:t>
            </a:r>
            <a:endParaRPr lang="en-US" sz="1200" dirty="0"/>
          </a:p>
        </p:txBody>
      </p:sp>
      <p:sp>
        <p:nvSpPr>
          <p:cNvPr id="7" name="Cover stat divider 1"/>
          <p:cNvSpPr/>
          <p:nvPr/>
        </p:nvSpPr>
        <p:spPr>
          <a:xfrm>
            <a:off x="2176272" y="4526280"/>
            <a:ext cx="0" cy="868680"/>
          </a:xfrm>
          <a:prstGeom prst="line">
            <a:avLst/>
          </a:prstGeom>
          <a:noFill/>
          <a:ln w="9525">
            <a:solidFill>
              <a:schemeClr val="accent2"/>
            </a:solidFill>
            <a:prstDash val="solid"/>
          </a:ln>
        </p:spPr>
      </p:sp>
      <p:sp>
        <p:nvSpPr>
          <p:cNvPr id="8" name="Cover stat 2 value"/>
          <p:cNvSpPr txBox="1"/>
          <p:nvPr/>
        </p:nvSpPr>
        <p:spPr>
          <a:xfrm>
            <a:off x="2404872" y="4480560"/>
            <a:ext cx="1527048" cy="502920"/>
          </a:xfrm>
          <a:prstGeom prst="rect">
            <a:avLst/>
          </a:prstGeom>
          <a:noFill/>
          <a:ln/>
        </p:spPr>
        <p:txBody>
          <a:bodyPr wrap="square" lIns="0" tIns="0" rIns="0" bIns="0" rtlCol="0" anchor="t"/>
          <a:lstStyle/>
          <a:p>
            <a:pPr indent="0" marL="0">
              <a:buNone/>
            </a:pPr>
            <a:r>
              <a:rPr lang="en-US" sz="3000" b="1" dirty="0">
                <a:solidFill>
                  <a:schemeClr val="tx1"/>
                </a:solidFill>
              </a:rPr>
              <a:t>57</a:t>
            </a:r>
            <a:endParaRPr lang="en-US" sz="3000" dirty="0"/>
          </a:p>
        </p:txBody>
      </p:sp>
      <p:sp>
        <p:nvSpPr>
          <p:cNvPr id="9" name="Cover stat 2 label"/>
          <p:cNvSpPr txBox="1"/>
          <p:nvPr/>
        </p:nvSpPr>
        <p:spPr>
          <a:xfrm>
            <a:off x="2404872" y="5029200"/>
            <a:ext cx="1527048" cy="411480"/>
          </a:xfrm>
          <a:prstGeom prst="rect">
            <a:avLst/>
          </a:prstGeom>
          <a:noFill/>
          <a:ln/>
        </p:spPr>
        <p:txBody>
          <a:bodyPr wrap="square" lIns="0" tIns="0" rIns="0" bIns="0" rtlCol="0" anchor="t"/>
          <a:lstStyle/>
          <a:p>
            <a:pPr indent="0" marL="0">
              <a:buNone/>
            </a:pPr>
            <a:r>
              <a:rPr lang="en-US" sz="1200" dirty="0">
                <a:solidFill>
                  <a:schemeClr val="tx2"/>
                </a:solidFill>
              </a:rPr>
              <a:t>tests passing</a:t>
            </a:r>
            <a:endParaRPr lang="en-US" sz="1200" dirty="0"/>
          </a:p>
        </p:txBody>
      </p:sp>
      <p:sp>
        <p:nvSpPr>
          <p:cNvPr id="10" name="Cover stat divider 2"/>
          <p:cNvSpPr/>
          <p:nvPr/>
        </p:nvSpPr>
        <p:spPr>
          <a:xfrm>
            <a:off x="3867912" y="4526280"/>
            <a:ext cx="0" cy="868680"/>
          </a:xfrm>
          <a:prstGeom prst="line">
            <a:avLst/>
          </a:prstGeom>
          <a:noFill/>
          <a:ln w="9525">
            <a:solidFill>
              <a:schemeClr val="accent2"/>
            </a:solidFill>
            <a:prstDash val="solid"/>
          </a:ln>
        </p:spPr>
      </p:sp>
      <p:sp>
        <p:nvSpPr>
          <p:cNvPr id="11" name="Cover stat 3 value"/>
          <p:cNvSpPr txBox="1"/>
          <p:nvPr/>
        </p:nvSpPr>
        <p:spPr>
          <a:xfrm>
            <a:off x="4096512" y="4480560"/>
            <a:ext cx="1527048" cy="502920"/>
          </a:xfrm>
          <a:prstGeom prst="rect">
            <a:avLst/>
          </a:prstGeom>
          <a:noFill/>
          <a:ln/>
        </p:spPr>
        <p:txBody>
          <a:bodyPr wrap="square" lIns="0" tIns="0" rIns="0" bIns="0" rtlCol="0" anchor="t"/>
          <a:lstStyle/>
          <a:p>
            <a:pPr indent="0" marL="0">
              <a:buNone/>
            </a:pPr>
            <a:r>
              <a:rPr lang="en-US" sz="3000" b="1" dirty="0">
                <a:solidFill>
                  <a:schemeClr val="tx1"/>
                </a:solidFill>
              </a:rPr>
              <a:t>0</a:t>
            </a:r>
            <a:endParaRPr lang="en-US" sz="3000" dirty="0"/>
          </a:p>
        </p:txBody>
      </p:sp>
      <p:sp>
        <p:nvSpPr>
          <p:cNvPr id="12" name="Cover stat 3 label"/>
          <p:cNvSpPr txBox="1"/>
          <p:nvPr/>
        </p:nvSpPr>
        <p:spPr>
          <a:xfrm>
            <a:off x="4096512" y="5029200"/>
            <a:ext cx="1527048" cy="411480"/>
          </a:xfrm>
          <a:prstGeom prst="rect">
            <a:avLst/>
          </a:prstGeom>
          <a:noFill/>
          <a:ln/>
        </p:spPr>
        <p:txBody>
          <a:bodyPr wrap="square" lIns="0" tIns="0" rIns="0" bIns="0" rtlCol="0" anchor="t"/>
          <a:lstStyle/>
          <a:p>
            <a:pPr indent="0" marL="0">
              <a:buNone/>
            </a:pPr>
            <a:r>
              <a:rPr lang="en-US" sz="1200" dirty="0">
                <a:solidFill>
                  <a:schemeClr val="tx2"/>
                </a:solidFill>
              </a:rPr>
              <a:t>runtime dependencies</a:t>
            </a:r>
            <a:endParaRPr lang="en-US" sz="1200" dirty="0"/>
          </a:p>
        </p:txBody>
      </p:sp>
      <p:sp>
        <p:nvSpPr>
          <p:cNvPr id="13" name="Tablekeeper home screen mat"/>
          <p:cNvSpPr/>
          <p:nvPr/>
        </p:nvSpPr>
        <p:spPr>
          <a:xfrm>
            <a:off x="5989320" y="1234440"/>
            <a:ext cx="5559552" cy="4343400"/>
          </a:xfrm>
          <a:prstGeom prst="roundRect">
            <a:avLst>
              <a:gd name="adj" fmla="val 2526"/>
            </a:avLst>
          </a:prstGeom>
          <a:solidFill>
            <a:schemeClr val="accent3"/>
          </a:solidFill>
          <a:ln w="9525">
            <a:solidFill>
              <a:schemeClr val="accent2"/>
            </a:solidFill>
            <a:prstDash val="solid"/>
          </a:ln>
        </p:spPr>
      </p:sp>
      <p:pic>
        <p:nvPicPr>
          <p:cNvPr id="14" name="Tablekeeper home screen" descr="Tablekeeper home screen">    </p:cNvPr>
          <p:cNvPicPr>
            <a:picLocks noChangeAspect="1"/>
          </p:cNvPicPr>
          <p:nvPr/>
        </p:nvPicPr>
        <p:blipFill>
          <a:blip r:embed="rId1"/>
          <a:srcRect l="0" r="0" t="0" b="6977"/>
          <a:stretch/>
        </p:blipFill>
        <p:spPr>
          <a:xfrm>
            <a:off x="6135624" y="1760220"/>
            <a:ext cx="5266944" cy="3291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73152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01   THE PROBLEM</a:t>
            </a:r>
            <a:endParaRPr lang="en-US" sz="1200" dirty="0"/>
          </a:p>
        </p:txBody>
      </p:sp>
      <p:sp>
        <p:nvSpPr>
          <p:cNvPr id="3" name="Text 0"/>
          <p:cNvSpPr/>
          <p:nvPr>
            <p:ph idx="101" type="title" hasCustomPrompt="1"/>
          </p:nvPr>
        </p:nvSpPr>
        <p:spPr>
          <a:xfrm>
            <a:off x="640080" y="786384"/>
            <a:ext cx="10911535" cy="731520"/>
          </a:xfrm>
          <a:prstGeom prst="rect">
            <a:avLst/>
          </a:prstGeom>
          <a:noFill/>
          <a:ln/>
        </p:spPr>
        <p:txBody>
          <a:bodyPr wrap="square" lIns="0" tIns="0" rIns="0" bIns="0" rtlCol="0" anchor="t"/>
          <a:lstStyle/>
          <a:p>
            <a:pPr algn="l" indent="0" marL="0">
              <a:buNone/>
            </a:pPr>
            <a:r>
              <a:rPr lang="en-US" sz="3200" b="1" dirty="0">
                <a:solidFill>
                  <a:schemeClr val="tx1"/>
                </a:solidFill>
              </a:rPr>
              <a:t>One table, two parties, one bad night</a:t>
            </a:r>
            <a:endParaRPr lang="en-US" sz="3200" dirty="0"/>
          </a:p>
        </p:txBody>
      </p:sp>
      <p:sp>
        <p:nvSpPr>
          <p:cNvPr id="4" name="Problem 1 number"/>
          <p:cNvSpPr txBox="1"/>
          <p:nvPr/>
        </p:nvSpPr>
        <p:spPr>
          <a:xfrm>
            <a:off x="640080" y="2011680"/>
            <a:ext cx="3246120" cy="731520"/>
          </a:xfrm>
          <a:prstGeom prst="rect">
            <a:avLst/>
          </a:prstGeom>
          <a:noFill/>
          <a:ln/>
        </p:spPr>
        <p:txBody>
          <a:bodyPr wrap="square" lIns="0" tIns="0" rIns="0" bIns="0" rtlCol="0" anchor="t"/>
          <a:lstStyle/>
          <a:p>
            <a:pPr indent="0" marL="0">
              <a:buNone/>
            </a:pPr>
            <a:r>
              <a:rPr lang="en-US" sz="4000" dirty="0">
                <a:solidFill>
                  <a:schemeClr val="accent1"/>
                </a:solidFill>
              </a:rPr>
              <a:t>01</a:t>
            </a:r>
            <a:endParaRPr lang="en-US" sz="4000" dirty="0"/>
          </a:p>
        </p:txBody>
      </p:sp>
      <p:sp>
        <p:nvSpPr>
          <p:cNvPr id="5" name="Problem 1 heading"/>
          <p:cNvSpPr txBox="1"/>
          <p:nvPr/>
        </p:nvSpPr>
        <p:spPr>
          <a:xfrm>
            <a:off x="640080" y="2926080"/>
            <a:ext cx="3246120" cy="411480"/>
          </a:xfrm>
          <a:prstGeom prst="rect">
            <a:avLst/>
          </a:prstGeom>
          <a:noFill/>
          <a:ln/>
        </p:spPr>
        <p:txBody>
          <a:bodyPr wrap="square" lIns="0" tIns="0" rIns="0" bIns="0" rtlCol="0" anchor="t"/>
          <a:lstStyle/>
          <a:p>
            <a:pPr indent="0" marL="0">
              <a:buNone/>
            </a:pPr>
            <a:r>
              <a:rPr lang="en-US" sz="2000" b="1" dirty="0">
                <a:solidFill>
                  <a:schemeClr val="tx1"/>
                </a:solidFill>
              </a:rPr>
              <a:t>Simultaneous clicks</a:t>
            </a:r>
            <a:endParaRPr lang="en-US" sz="2000" dirty="0"/>
          </a:p>
        </p:txBody>
      </p:sp>
      <p:sp>
        <p:nvSpPr>
          <p:cNvPr id="6" name="Problem 1 body"/>
          <p:cNvSpPr txBox="1"/>
          <p:nvPr/>
        </p:nvSpPr>
        <p:spPr>
          <a:xfrm>
            <a:off x="640080" y="3429000"/>
            <a:ext cx="3246120" cy="173736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Two guests book the last table in the same second. A system that checks first and writes second lets both through.</a:t>
            </a:r>
            <a:endParaRPr lang="en-US" sz="1500" dirty="0"/>
          </a:p>
        </p:txBody>
      </p:sp>
      <p:sp>
        <p:nvSpPr>
          <p:cNvPr id="7" name="Problem divider 1"/>
          <p:cNvSpPr/>
          <p:nvPr/>
        </p:nvSpPr>
        <p:spPr>
          <a:xfrm>
            <a:off x="4179494" y="2057400"/>
            <a:ext cx="0" cy="3154680"/>
          </a:xfrm>
          <a:prstGeom prst="line">
            <a:avLst/>
          </a:prstGeom>
          <a:noFill/>
          <a:ln w="9525">
            <a:solidFill>
              <a:schemeClr val="accent2"/>
            </a:solidFill>
            <a:prstDash val="solid"/>
          </a:ln>
        </p:spPr>
      </p:sp>
      <p:sp>
        <p:nvSpPr>
          <p:cNvPr id="8" name="Problem 2 number"/>
          <p:cNvSpPr txBox="1"/>
          <p:nvPr/>
        </p:nvSpPr>
        <p:spPr>
          <a:xfrm>
            <a:off x="4472788" y="2011680"/>
            <a:ext cx="3246120" cy="731520"/>
          </a:xfrm>
          <a:prstGeom prst="rect">
            <a:avLst/>
          </a:prstGeom>
          <a:noFill/>
          <a:ln/>
        </p:spPr>
        <p:txBody>
          <a:bodyPr wrap="square" lIns="0" tIns="0" rIns="0" bIns="0" rtlCol="0" anchor="t"/>
          <a:lstStyle/>
          <a:p>
            <a:pPr indent="0" marL="0">
              <a:buNone/>
            </a:pPr>
            <a:r>
              <a:rPr lang="en-US" sz="4000" dirty="0">
                <a:solidFill>
                  <a:schemeClr val="accent1"/>
                </a:solidFill>
              </a:rPr>
              <a:t>02</a:t>
            </a:r>
            <a:endParaRPr lang="en-US" sz="4000" dirty="0"/>
          </a:p>
        </p:txBody>
      </p:sp>
      <p:sp>
        <p:nvSpPr>
          <p:cNvPr id="9" name="Problem 2 heading"/>
          <p:cNvSpPr txBox="1"/>
          <p:nvPr/>
        </p:nvSpPr>
        <p:spPr>
          <a:xfrm>
            <a:off x="4472788" y="2926080"/>
            <a:ext cx="3246120" cy="411480"/>
          </a:xfrm>
          <a:prstGeom prst="rect">
            <a:avLst/>
          </a:prstGeom>
          <a:noFill/>
          <a:ln/>
        </p:spPr>
        <p:txBody>
          <a:bodyPr wrap="square" lIns="0" tIns="0" rIns="0" bIns="0" rtlCol="0" anchor="t"/>
          <a:lstStyle/>
          <a:p>
            <a:pPr indent="0" marL="0">
              <a:buNone/>
            </a:pPr>
            <a:r>
              <a:rPr lang="en-US" sz="2000" b="1" dirty="0">
                <a:solidFill>
                  <a:schemeClr val="tx1"/>
                </a:solidFill>
              </a:rPr>
              <a:t>Retried requests</a:t>
            </a:r>
            <a:endParaRPr lang="en-US" sz="2000" dirty="0"/>
          </a:p>
        </p:txBody>
      </p:sp>
      <p:sp>
        <p:nvSpPr>
          <p:cNvPr id="10" name="Problem 2 body"/>
          <p:cNvSpPr txBox="1"/>
          <p:nvPr/>
        </p:nvSpPr>
        <p:spPr>
          <a:xfrm>
            <a:off x="4472788" y="3429000"/>
            <a:ext cx="3246120" cy="173736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A dropped connection or an impatient double-click sends the same booking twice, and creates two.</a:t>
            </a:r>
            <a:endParaRPr lang="en-US" sz="1500" dirty="0"/>
          </a:p>
        </p:txBody>
      </p:sp>
      <p:sp>
        <p:nvSpPr>
          <p:cNvPr id="11" name="Problem divider 2"/>
          <p:cNvSpPr/>
          <p:nvPr/>
        </p:nvSpPr>
        <p:spPr>
          <a:xfrm>
            <a:off x="8012201" y="2057400"/>
            <a:ext cx="0" cy="3154680"/>
          </a:xfrm>
          <a:prstGeom prst="line">
            <a:avLst/>
          </a:prstGeom>
          <a:noFill/>
          <a:ln w="9525">
            <a:solidFill>
              <a:schemeClr val="accent2"/>
            </a:solidFill>
            <a:prstDash val="solid"/>
          </a:ln>
        </p:spPr>
      </p:sp>
      <p:sp>
        <p:nvSpPr>
          <p:cNvPr id="12" name="Problem 3 number"/>
          <p:cNvSpPr txBox="1"/>
          <p:nvPr/>
        </p:nvSpPr>
        <p:spPr>
          <a:xfrm>
            <a:off x="8305495" y="2011680"/>
            <a:ext cx="3246120" cy="731520"/>
          </a:xfrm>
          <a:prstGeom prst="rect">
            <a:avLst/>
          </a:prstGeom>
          <a:noFill/>
          <a:ln/>
        </p:spPr>
        <p:txBody>
          <a:bodyPr wrap="square" lIns="0" tIns="0" rIns="0" bIns="0" rtlCol="0" anchor="t"/>
          <a:lstStyle/>
          <a:p>
            <a:pPr indent="0" marL="0">
              <a:buNone/>
            </a:pPr>
            <a:r>
              <a:rPr lang="en-US" sz="4000" dirty="0">
                <a:solidFill>
                  <a:schemeClr val="accent1"/>
                </a:solidFill>
              </a:rPr>
              <a:t>03</a:t>
            </a:r>
            <a:endParaRPr lang="en-US" sz="4000" dirty="0"/>
          </a:p>
        </p:txBody>
      </p:sp>
      <p:sp>
        <p:nvSpPr>
          <p:cNvPr id="13" name="Problem 3 heading"/>
          <p:cNvSpPr txBox="1"/>
          <p:nvPr/>
        </p:nvSpPr>
        <p:spPr>
          <a:xfrm>
            <a:off x="8305495" y="2926080"/>
            <a:ext cx="3246120" cy="411480"/>
          </a:xfrm>
          <a:prstGeom prst="rect">
            <a:avLst/>
          </a:prstGeom>
          <a:noFill/>
          <a:ln/>
        </p:spPr>
        <p:txBody>
          <a:bodyPr wrap="square" lIns="0" tIns="0" rIns="0" bIns="0" rtlCol="0" anchor="t"/>
          <a:lstStyle/>
          <a:p>
            <a:pPr indent="0" marL="0">
              <a:buNone/>
            </a:pPr>
            <a:r>
              <a:rPr lang="en-US" sz="2000" b="1" dirty="0">
                <a:solidFill>
                  <a:schemeClr val="tx1"/>
                </a:solidFill>
              </a:rPr>
              <a:t>Clock changes</a:t>
            </a:r>
            <a:endParaRPr lang="en-US" sz="2000" dirty="0"/>
          </a:p>
        </p:txBody>
      </p:sp>
      <p:sp>
        <p:nvSpPr>
          <p:cNvPr id="14" name="Problem 3 body"/>
          <p:cNvSpPr txBox="1"/>
          <p:nvPr/>
        </p:nvSpPr>
        <p:spPr>
          <a:xfrm>
            <a:off x="8305495" y="3429000"/>
            <a:ext cx="3246120" cy="173736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On daylight-saving nights 02:30 never happens, and 01:30 happens twice. Guessing moves a booking by an hour.</a:t>
            </a:r>
            <a:endParaRPr lang="en-US" sz="1500" dirty="0"/>
          </a:p>
        </p:txBody>
      </p:sp>
      <p:sp>
        <p:nvSpPr>
          <p:cNvPr id="15" name="Problem footer divider"/>
          <p:cNvSpPr/>
          <p:nvPr/>
        </p:nvSpPr>
        <p:spPr>
          <a:xfrm>
            <a:off x="640080" y="5486400"/>
            <a:ext cx="10911535" cy="0"/>
          </a:xfrm>
          <a:prstGeom prst="line">
            <a:avLst/>
          </a:prstGeom>
          <a:noFill/>
          <a:ln w="9525">
            <a:solidFill>
              <a:schemeClr val="accent2"/>
            </a:solidFill>
            <a:prstDash val="solid"/>
          </a:ln>
        </p:spPr>
      </p:sp>
      <p:sp>
        <p:nvSpPr>
          <p:cNvPr id="16" name="Problem takeaway"/>
          <p:cNvSpPr txBox="1"/>
          <p:nvPr/>
        </p:nvSpPr>
        <p:spPr>
          <a:xfrm>
            <a:off x="640080" y="5669280"/>
            <a:ext cx="10911535" cy="365760"/>
          </a:xfrm>
          <a:prstGeom prst="rect">
            <a:avLst/>
          </a:prstGeom>
          <a:noFill/>
          <a:ln/>
        </p:spPr>
        <p:txBody>
          <a:bodyPr wrap="square" lIns="0" tIns="0" rIns="0" bIns="0" rtlCol="0" anchor="t"/>
          <a:lstStyle/>
          <a:p>
            <a:pPr indent="0" marL="0">
              <a:buNone/>
            </a:pPr>
            <a:r>
              <a:rPr lang="en-US" sz="1600" i="1" dirty="0">
                <a:solidFill>
                  <a:schemeClr val="tx1"/>
                </a:solidFill>
              </a:rPr>
              <a:t>Tablekeeper closes all three in one place: the database, not the app code.</a:t>
            </a:r>
            <a:endParaRPr lang="en-US" sz="16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73152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02   THE PRODUCT</a:t>
            </a:r>
            <a:endParaRPr lang="en-US" sz="1200" dirty="0"/>
          </a:p>
        </p:txBody>
      </p:sp>
      <p:sp>
        <p:nvSpPr>
          <p:cNvPr id="3" name="Text 0"/>
          <p:cNvSpPr/>
          <p:nvPr>
            <p:ph idx="101" type="title" hasCustomPrompt="1"/>
          </p:nvPr>
        </p:nvSpPr>
        <p:spPr>
          <a:xfrm>
            <a:off x="640080" y="786384"/>
            <a:ext cx="10911535" cy="731520"/>
          </a:xfrm>
          <a:prstGeom prst="rect">
            <a:avLst/>
          </a:prstGeom>
          <a:noFill/>
          <a:ln/>
        </p:spPr>
        <p:txBody>
          <a:bodyPr wrap="square" lIns="0" tIns="0" rIns="0" bIns="0" rtlCol="0" anchor="t"/>
          <a:lstStyle/>
          <a:p>
            <a:pPr algn="l" indent="0" marL="0">
              <a:buNone/>
            </a:pPr>
            <a:r>
              <a:rPr lang="en-US" sz="3200" b="1" dirty="0">
                <a:solidFill>
                  <a:schemeClr val="tx1"/>
                </a:solidFill>
              </a:rPr>
              <a:t>Three steps from set up to confirmed</a:t>
            </a:r>
            <a:endParaRPr lang="en-US" sz="3200" dirty="0"/>
          </a:p>
        </p:txBody>
      </p:sp>
      <p:sp>
        <p:nvSpPr>
          <p:cNvPr id="4" name="Set up step screenshot mat"/>
          <p:cNvSpPr/>
          <p:nvPr/>
        </p:nvSpPr>
        <p:spPr>
          <a:xfrm>
            <a:off x="640080" y="1783080"/>
            <a:ext cx="3337560" cy="3154680"/>
          </a:xfrm>
          <a:prstGeom prst="roundRect">
            <a:avLst>
              <a:gd name="adj" fmla="val 3478"/>
            </a:avLst>
          </a:prstGeom>
          <a:solidFill>
            <a:schemeClr val="accent3"/>
          </a:solidFill>
          <a:ln w="9525">
            <a:solidFill>
              <a:schemeClr val="accent2"/>
            </a:solidFill>
            <a:prstDash val="solid"/>
          </a:ln>
        </p:spPr>
      </p:sp>
      <p:pic>
        <p:nvPicPr>
          <p:cNvPr id="5" name="Set up step screenshot" descr="Set up step screenshot">    </p:cNvPr>
          <p:cNvPicPr>
            <a:picLocks noChangeAspect="1"/>
          </p:cNvPicPr>
          <p:nvPr/>
        </p:nvPicPr>
        <p:blipFill>
          <a:blip r:embed="rId1"/>
          <a:srcRect l="0" r="0" t="0" b="0"/>
          <a:stretch/>
        </p:blipFill>
        <p:spPr>
          <a:xfrm>
            <a:off x="962477" y="1929384"/>
            <a:ext cx="2692766" cy="2862072"/>
          </a:xfrm>
          <a:prstGeom prst="rect">
            <a:avLst/>
          </a:prstGeom>
        </p:spPr>
      </p:pic>
      <p:sp>
        <p:nvSpPr>
          <p:cNvPr id="6" name="Product step 1 heading"/>
          <p:cNvSpPr txBox="1"/>
          <p:nvPr/>
        </p:nvSpPr>
        <p:spPr>
          <a:xfrm>
            <a:off x="640080" y="5120640"/>
            <a:ext cx="3337560" cy="320040"/>
          </a:xfrm>
          <a:prstGeom prst="rect">
            <a:avLst/>
          </a:prstGeom>
          <a:noFill/>
          <a:ln/>
        </p:spPr>
        <p:txBody>
          <a:bodyPr wrap="square" lIns="0" tIns="0" rIns="0" bIns="0" rtlCol="0" anchor="t"/>
          <a:lstStyle/>
          <a:p>
            <a:pPr indent="0" marL="0">
              <a:buNone/>
            </a:pPr>
            <a:r>
              <a:rPr lang="en-US" sz="1600" b="1" dirty="0">
                <a:solidFill>
                  <a:schemeClr val="accent1"/>
                </a:solidFill>
              </a:rPr>
              <a:t>1   </a:t>
            </a:r>
            <a:pPr indent="0" marL="0">
              <a:buNone/>
            </a:pPr>
            <a:r>
              <a:rPr lang="en-US" sz="1600" b="1" dirty="0">
                <a:solidFill>
                  <a:schemeClr val="tx1"/>
                </a:solidFill>
              </a:rPr>
              <a:t>Set up</a:t>
            </a:r>
            <a:endParaRPr lang="en-US" sz="1600" dirty="0"/>
          </a:p>
        </p:txBody>
      </p:sp>
      <p:sp>
        <p:nvSpPr>
          <p:cNvPr id="7" name="Product step 1 body"/>
          <p:cNvSpPr txBox="1"/>
          <p:nvPr/>
        </p:nvSpPr>
        <p:spPr>
          <a:xfrm>
            <a:off x="640080" y="5468112"/>
            <a:ext cx="3337560" cy="685800"/>
          </a:xfrm>
          <a:prstGeom prst="rect">
            <a:avLst/>
          </a:prstGeom>
          <a:noFill/>
          <a:ln/>
        </p:spPr>
        <p:txBody>
          <a:bodyPr wrap="square" lIns="0" tIns="0" rIns="0" bIns="0" rtlCol="0" anchor="t"/>
          <a:lstStyle/>
          <a:p>
            <a:pPr indent="0" marL="0">
              <a:buNone/>
            </a:pPr>
            <a:r>
              <a:rPr lang="en-US" sz="1400" dirty="0">
                <a:solidFill>
                  <a:schemeClr val="tx2"/>
                </a:solidFill>
              </a:rPr>
              <a:t>Create a restaurant in its own time zone, then add a table.</a:t>
            </a:r>
            <a:endParaRPr lang="en-US" sz="1400" dirty="0"/>
          </a:p>
        </p:txBody>
      </p:sp>
      <p:sp>
        <p:nvSpPr>
          <p:cNvPr id="8" name="Book step screenshot mat"/>
          <p:cNvSpPr/>
          <p:nvPr/>
        </p:nvSpPr>
        <p:spPr>
          <a:xfrm>
            <a:off x="4427068" y="1783080"/>
            <a:ext cx="3337560" cy="3154680"/>
          </a:xfrm>
          <a:prstGeom prst="roundRect">
            <a:avLst>
              <a:gd name="adj" fmla="val 3478"/>
            </a:avLst>
          </a:prstGeom>
          <a:solidFill>
            <a:schemeClr val="accent3"/>
          </a:solidFill>
          <a:ln w="9525">
            <a:solidFill>
              <a:schemeClr val="accent2"/>
            </a:solidFill>
            <a:prstDash val="solid"/>
          </a:ln>
        </p:spPr>
      </p:sp>
      <p:pic>
        <p:nvPicPr>
          <p:cNvPr id="9" name="Book step screenshot" descr="Book step screenshot">    </p:cNvPr>
          <p:cNvPicPr>
            <a:picLocks noChangeAspect="1"/>
          </p:cNvPicPr>
          <p:nvPr/>
        </p:nvPicPr>
        <p:blipFill>
          <a:blip r:embed="rId2"/>
          <a:srcRect l="0" r="0" t="0" b="0"/>
          <a:stretch/>
        </p:blipFill>
        <p:spPr>
          <a:xfrm>
            <a:off x="4780948" y="1929384"/>
            <a:ext cx="2629799" cy="2862072"/>
          </a:xfrm>
          <a:prstGeom prst="rect">
            <a:avLst/>
          </a:prstGeom>
        </p:spPr>
      </p:pic>
      <p:sp>
        <p:nvSpPr>
          <p:cNvPr id="10" name="Product step 2 heading"/>
          <p:cNvSpPr txBox="1"/>
          <p:nvPr/>
        </p:nvSpPr>
        <p:spPr>
          <a:xfrm>
            <a:off x="4427068" y="5120640"/>
            <a:ext cx="3337560" cy="320040"/>
          </a:xfrm>
          <a:prstGeom prst="rect">
            <a:avLst/>
          </a:prstGeom>
          <a:noFill/>
          <a:ln/>
        </p:spPr>
        <p:txBody>
          <a:bodyPr wrap="square" lIns="0" tIns="0" rIns="0" bIns="0" rtlCol="0" anchor="t"/>
          <a:lstStyle/>
          <a:p>
            <a:pPr indent="0" marL="0">
              <a:buNone/>
            </a:pPr>
            <a:r>
              <a:rPr lang="en-US" sz="1600" b="1" dirty="0">
                <a:solidFill>
                  <a:schemeClr val="accent1"/>
                </a:solidFill>
              </a:rPr>
              <a:t>2   </a:t>
            </a:r>
            <a:pPr indent="0" marL="0">
              <a:buNone/>
            </a:pPr>
            <a:r>
              <a:rPr lang="en-US" sz="1600" b="1" dirty="0">
                <a:solidFill>
                  <a:schemeClr val="tx1"/>
                </a:solidFill>
              </a:rPr>
              <a:t>Book</a:t>
            </a:r>
            <a:endParaRPr lang="en-US" sz="1600" dirty="0"/>
          </a:p>
        </p:txBody>
      </p:sp>
      <p:sp>
        <p:nvSpPr>
          <p:cNvPr id="11" name="Product step 2 body"/>
          <p:cNvSpPr txBox="1"/>
          <p:nvPr/>
        </p:nvSpPr>
        <p:spPr>
          <a:xfrm>
            <a:off x="4427068" y="5468112"/>
            <a:ext cx="3337560" cy="685800"/>
          </a:xfrm>
          <a:prstGeom prst="rect">
            <a:avLst/>
          </a:prstGeom>
          <a:noFill/>
          <a:ln/>
        </p:spPr>
        <p:txBody>
          <a:bodyPr wrap="square" lIns="0" tIns="0" rIns="0" bIns="0" rtlCol="0" anchor="t"/>
          <a:lstStyle/>
          <a:p>
            <a:pPr indent="0" marL="0">
              <a:buNone/>
            </a:pPr>
            <a:r>
              <a:rPr lang="en-US" sz="1400" dirty="0">
                <a:solidFill>
                  <a:schemeClr val="tx2"/>
                </a:solidFill>
              </a:rPr>
              <a:t>Choose a date, time, party size and duration.</a:t>
            </a:r>
            <a:endParaRPr lang="en-US" sz="1400" dirty="0"/>
          </a:p>
        </p:txBody>
      </p:sp>
      <p:sp>
        <p:nvSpPr>
          <p:cNvPr id="12" name="Confirm step screenshot mat"/>
          <p:cNvSpPr/>
          <p:nvPr/>
        </p:nvSpPr>
        <p:spPr>
          <a:xfrm>
            <a:off x="8214055" y="1783080"/>
            <a:ext cx="3337560" cy="3154680"/>
          </a:xfrm>
          <a:prstGeom prst="roundRect">
            <a:avLst>
              <a:gd name="adj" fmla="val 3478"/>
            </a:avLst>
          </a:prstGeom>
          <a:solidFill>
            <a:schemeClr val="accent3"/>
          </a:solidFill>
          <a:ln w="9525">
            <a:solidFill>
              <a:schemeClr val="accent2"/>
            </a:solidFill>
            <a:prstDash val="solid"/>
          </a:ln>
        </p:spPr>
      </p:sp>
      <p:pic>
        <p:nvPicPr>
          <p:cNvPr id="13" name="Confirm step screenshot" descr="Confirm step screenshot">    </p:cNvPr>
          <p:cNvPicPr>
            <a:picLocks noChangeAspect="1"/>
          </p:cNvPicPr>
          <p:nvPr/>
        </p:nvPicPr>
        <p:blipFill>
          <a:blip r:embed="rId3"/>
          <a:srcRect l="0" r="0" t="0" b="0"/>
          <a:stretch/>
        </p:blipFill>
        <p:spPr>
          <a:xfrm>
            <a:off x="8360359" y="2027114"/>
            <a:ext cx="3044952" cy="2666612"/>
          </a:xfrm>
          <a:prstGeom prst="rect">
            <a:avLst/>
          </a:prstGeom>
        </p:spPr>
      </p:pic>
      <p:sp>
        <p:nvSpPr>
          <p:cNvPr id="14" name="Product step 3 heading"/>
          <p:cNvSpPr txBox="1"/>
          <p:nvPr/>
        </p:nvSpPr>
        <p:spPr>
          <a:xfrm>
            <a:off x="8214055" y="5120640"/>
            <a:ext cx="3337560" cy="320040"/>
          </a:xfrm>
          <a:prstGeom prst="rect">
            <a:avLst/>
          </a:prstGeom>
          <a:noFill/>
          <a:ln/>
        </p:spPr>
        <p:txBody>
          <a:bodyPr wrap="square" lIns="0" tIns="0" rIns="0" bIns="0" rtlCol="0" anchor="t"/>
          <a:lstStyle/>
          <a:p>
            <a:pPr indent="0" marL="0">
              <a:buNone/>
            </a:pPr>
            <a:r>
              <a:rPr lang="en-US" sz="1600" b="1" dirty="0">
                <a:solidFill>
                  <a:schemeClr val="accent1"/>
                </a:solidFill>
              </a:rPr>
              <a:t>3   </a:t>
            </a:r>
            <a:pPr indent="0" marL="0">
              <a:buNone/>
            </a:pPr>
            <a:r>
              <a:rPr lang="en-US" sz="1600" b="1" dirty="0">
                <a:solidFill>
                  <a:schemeClr val="tx1"/>
                </a:solidFill>
              </a:rPr>
              <a:t>Confirm</a:t>
            </a:r>
            <a:endParaRPr lang="en-US" sz="1600" dirty="0"/>
          </a:p>
        </p:txBody>
      </p:sp>
      <p:sp>
        <p:nvSpPr>
          <p:cNvPr id="15" name="Product step 3 body"/>
          <p:cNvSpPr txBox="1"/>
          <p:nvPr/>
        </p:nvSpPr>
        <p:spPr>
          <a:xfrm>
            <a:off x="8214055" y="5468112"/>
            <a:ext cx="3337560" cy="685800"/>
          </a:xfrm>
          <a:prstGeom prst="rect">
            <a:avLst/>
          </a:prstGeom>
          <a:noFill/>
          <a:ln/>
        </p:spPr>
        <p:txBody>
          <a:bodyPr wrap="square" lIns="0" tIns="0" rIns="0" bIns="0" rtlCol="0" anchor="t"/>
          <a:lstStyle/>
          <a:p>
            <a:pPr indent="0" marL="0">
              <a:buNone/>
            </a:pPr>
            <a:r>
              <a:rPr lang="en-US" sz="1400" dirty="0">
                <a:solidFill>
                  <a:schemeClr val="tx2"/>
                </a:solidFill>
              </a:rPr>
              <a:t>Read back from the server, so what you see is what was stored.</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73152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03   RETRIES</a:t>
            </a:r>
            <a:endParaRPr lang="en-US" sz="1200" dirty="0"/>
          </a:p>
        </p:txBody>
      </p:sp>
      <p:sp>
        <p:nvSpPr>
          <p:cNvPr id="3" name="Text 0"/>
          <p:cNvSpPr/>
          <p:nvPr>
            <p:ph idx="101" type="title" hasCustomPrompt="1"/>
          </p:nvPr>
        </p:nvSpPr>
        <p:spPr>
          <a:xfrm>
            <a:off x="640080" y="786384"/>
            <a:ext cx="10911535" cy="731520"/>
          </a:xfrm>
          <a:prstGeom prst="rect">
            <a:avLst/>
          </a:prstGeom>
          <a:noFill/>
          <a:ln/>
        </p:spPr>
        <p:txBody>
          <a:bodyPr wrap="square" lIns="0" tIns="0" rIns="0" bIns="0" rtlCol="0" anchor="t"/>
          <a:lstStyle/>
          <a:p>
            <a:pPr algn="l" indent="0" marL="0">
              <a:buNone/>
            </a:pPr>
            <a:r>
              <a:rPr lang="en-US" sz="3200" b="1" dirty="0">
                <a:solidFill>
                  <a:schemeClr val="tx1"/>
                </a:solidFill>
              </a:rPr>
              <a:t>Press it twice, get one booking</a:t>
            </a:r>
            <a:endParaRPr lang="en-US" sz="3200" dirty="0"/>
          </a:p>
        </p:txBody>
      </p:sp>
      <p:sp>
        <p:nvSpPr>
          <p:cNvPr id="4" name="Retry point 1 heading"/>
          <p:cNvSpPr txBox="1"/>
          <p:nvPr/>
        </p:nvSpPr>
        <p:spPr>
          <a:xfrm>
            <a:off x="640080" y="1828800"/>
            <a:ext cx="4846320" cy="365760"/>
          </a:xfrm>
          <a:prstGeom prst="rect">
            <a:avLst/>
          </a:prstGeom>
          <a:noFill/>
          <a:ln/>
        </p:spPr>
        <p:txBody>
          <a:bodyPr wrap="square" lIns="0" tIns="0" rIns="0" bIns="0" rtlCol="0" anchor="t"/>
          <a:lstStyle/>
          <a:p>
            <a:pPr indent="0" marL="0">
              <a:buNone/>
            </a:pPr>
            <a:r>
              <a:rPr lang="en-US" sz="1800" b="1" dirty="0">
                <a:solidFill>
                  <a:schemeClr val="tx1"/>
                </a:solidFill>
              </a:rPr>
              <a:t>Same request, same answer</a:t>
            </a:r>
            <a:endParaRPr lang="en-US" sz="1800" dirty="0"/>
          </a:p>
        </p:txBody>
      </p:sp>
      <p:sp>
        <p:nvSpPr>
          <p:cNvPr id="5" name="Retry point 1 body"/>
          <p:cNvSpPr txBox="1"/>
          <p:nvPr/>
        </p:nvSpPr>
        <p:spPr>
          <a:xfrm>
            <a:off x="640080" y="2240280"/>
            <a:ext cx="4846320" cy="73152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Every booking carries a key tied to its content. Sending it again returns the original booking, never a second one.</a:t>
            </a:r>
            <a:endParaRPr lang="en-US" sz="1500" dirty="0"/>
          </a:p>
        </p:txBody>
      </p:sp>
      <p:sp>
        <p:nvSpPr>
          <p:cNvPr id="6" name="Retry point divider 1"/>
          <p:cNvSpPr/>
          <p:nvPr/>
        </p:nvSpPr>
        <p:spPr>
          <a:xfrm>
            <a:off x="640080" y="3063240"/>
            <a:ext cx="4846320" cy="0"/>
          </a:xfrm>
          <a:prstGeom prst="line">
            <a:avLst/>
          </a:prstGeom>
          <a:noFill/>
          <a:ln w="9525">
            <a:solidFill>
              <a:schemeClr val="accent2"/>
            </a:solidFill>
            <a:prstDash val="solid"/>
          </a:ln>
        </p:spPr>
      </p:sp>
      <p:sp>
        <p:nvSpPr>
          <p:cNvPr id="7" name="Retry point 2 heading"/>
          <p:cNvSpPr txBox="1"/>
          <p:nvPr/>
        </p:nvSpPr>
        <p:spPr>
          <a:xfrm>
            <a:off x="640080" y="3246120"/>
            <a:ext cx="4846320" cy="365760"/>
          </a:xfrm>
          <a:prstGeom prst="rect">
            <a:avLst/>
          </a:prstGeom>
          <a:noFill/>
          <a:ln/>
        </p:spPr>
        <p:txBody>
          <a:bodyPr wrap="square" lIns="0" tIns="0" rIns="0" bIns="0" rtlCol="0" anchor="t"/>
          <a:lstStyle/>
          <a:p>
            <a:pPr indent="0" marL="0">
              <a:buNone/>
            </a:pPr>
            <a:r>
              <a:rPr lang="en-US" sz="1800" b="1" dirty="0">
                <a:solidFill>
                  <a:schemeClr val="tx1"/>
                </a:solidFill>
              </a:rPr>
              <a:t>Change anything, new request</a:t>
            </a:r>
            <a:endParaRPr lang="en-US" sz="1800" dirty="0"/>
          </a:p>
        </p:txBody>
      </p:sp>
      <p:sp>
        <p:nvSpPr>
          <p:cNvPr id="8" name="Retry point 2 body"/>
          <p:cNvSpPr txBox="1"/>
          <p:nvPr/>
        </p:nvSpPr>
        <p:spPr>
          <a:xfrm>
            <a:off x="640080" y="3657600"/>
            <a:ext cx="4846320" cy="73152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Edit the time, party size or duration and a fresh key is made, so it counts as a new booking.</a:t>
            </a:r>
            <a:endParaRPr lang="en-US" sz="1500" dirty="0"/>
          </a:p>
        </p:txBody>
      </p:sp>
      <p:sp>
        <p:nvSpPr>
          <p:cNvPr id="9" name="Retry point divider 2"/>
          <p:cNvSpPr/>
          <p:nvPr/>
        </p:nvSpPr>
        <p:spPr>
          <a:xfrm>
            <a:off x="640080" y="4480560"/>
            <a:ext cx="4846320" cy="0"/>
          </a:xfrm>
          <a:prstGeom prst="line">
            <a:avLst/>
          </a:prstGeom>
          <a:noFill/>
          <a:ln w="9525">
            <a:solidFill>
              <a:schemeClr val="accent2"/>
            </a:solidFill>
            <a:prstDash val="solid"/>
          </a:ln>
        </p:spPr>
      </p:sp>
      <p:sp>
        <p:nvSpPr>
          <p:cNvPr id="10" name="Retry point 3 heading"/>
          <p:cNvSpPr txBox="1"/>
          <p:nvPr/>
        </p:nvSpPr>
        <p:spPr>
          <a:xfrm>
            <a:off x="640080" y="4663440"/>
            <a:ext cx="4846320" cy="365760"/>
          </a:xfrm>
          <a:prstGeom prst="rect">
            <a:avLst/>
          </a:prstGeom>
          <a:noFill/>
          <a:ln/>
        </p:spPr>
        <p:txBody>
          <a:bodyPr wrap="square" lIns="0" tIns="0" rIns="0" bIns="0" rtlCol="0" anchor="t"/>
          <a:lstStyle/>
          <a:p>
            <a:pPr indent="0" marL="0">
              <a:buNone/>
            </a:pPr>
            <a:r>
              <a:rPr lang="en-US" sz="1800" b="1" dirty="0">
                <a:solidFill>
                  <a:schemeClr val="tx1"/>
                </a:solidFill>
              </a:rPr>
              <a:t>Safe on bad networks</a:t>
            </a:r>
            <a:endParaRPr lang="en-US" sz="1800" dirty="0"/>
          </a:p>
        </p:txBody>
      </p:sp>
      <p:sp>
        <p:nvSpPr>
          <p:cNvPr id="11" name="Retry point 3 body"/>
          <p:cNvSpPr txBox="1"/>
          <p:nvPr/>
        </p:nvSpPr>
        <p:spPr>
          <a:xfrm>
            <a:off x="640080" y="5074920"/>
            <a:ext cx="4846320" cy="73152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A timeout or a busy server can be retried freely. Nothing is booked twice.</a:t>
            </a:r>
            <a:endParaRPr lang="en-US" sz="1500" dirty="0"/>
          </a:p>
        </p:txBody>
      </p:sp>
      <p:sp>
        <p:nvSpPr>
          <p:cNvPr id="12" name="Retry replays the original booking mat"/>
          <p:cNvSpPr/>
          <p:nvPr/>
        </p:nvSpPr>
        <p:spPr>
          <a:xfrm>
            <a:off x="5989320" y="1783080"/>
            <a:ext cx="5562295" cy="4343400"/>
          </a:xfrm>
          <a:prstGeom prst="roundRect">
            <a:avLst>
              <a:gd name="adj" fmla="val 2526"/>
            </a:avLst>
          </a:prstGeom>
          <a:solidFill>
            <a:schemeClr val="accent5"/>
          </a:solidFill>
          <a:ln w="9525">
            <a:solidFill>
              <a:schemeClr val="accent2"/>
            </a:solidFill>
            <a:prstDash val="solid"/>
          </a:ln>
        </p:spPr>
      </p:sp>
      <p:pic>
        <p:nvPicPr>
          <p:cNvPr id="13" name="Retry replays the original booking" descr="Retry replays the original booking">    </p:cNvPr>
          <p:cNvPicPr>
            <a:picLocks noChangeAspect="1"/>
          </p:cNvPicPr>
          <p:nvPr/>
        </p:nvPicPr>
        <p:blipFill>
          <a:blip r:embed="rId1"/>
          <a:srcRect l="3368" r="3368" t="33012" b="3714"/>
          <a:stretch/>
        </p:blipFill>
        <p:spPr>
          <a:xfrm>
            <a:off x="6135624" y="2009310"/>
            <a:ext cx="5269687" cy="3890941"/>
          </a:xfrm>
          <a:prstGeom prst="rect">
            <a:avLst/>
          </a:prstGeom>
        </p:spPr>
      </p:pic>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73152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04   THE GUARANTEE</a:t>
            </a:r>
            <a:endParaRPr lang="en-US" sz="1200" dirty="0"/>
          </a:p>
        </p:txBody>
      </p:sp>
      <p:sp>
        <p:nvSpPr>
          <p:cNvPr id="3" name="Text 0"/>
          <p:cNvSpPr/>
          <p:nvPr>
            <p:ph idx="101" type="title" hasCustomPrompt="1"/>
          </p:nvPr>
        </p:nvSpPr>
        <p:spPr>
          <a:xfrm>
            <a:off x="640080" y="786384"/>
            <a:ext cx="10911535" cy="731520"/>
          </a:xfrm>
          <a:prstGeom prst="rect">
            <a:avLst/>
          </a:prstGeom>
          <a:noFill/>
          <a:ln/>
        </p:spPr>
        <p:txBody>
          <a:bodyPr wrap="square" lIns="0" tIns="0" rIns="0" bIns="0" rtlCol="0" anchor="t"/>
          <a:lstStyle/>
          <a:p>
            <a:pPr algn="l" indent="0" marL="0">
              <a:buNone/>
            </a:pPr>
            <a:r>
              <a:rPr lang="en-US" sz="3200" b="1" dirty="0">
                <a:solidFill>
                  <a:schemeClr val="tx1"/>
                </a:solidFill>
              </a:rPr>
              <a:t>Overlaps are refused by the database itself</a:t>
            </a:r>
            <a:endParaRPr lang="en-US" sz="3200" dirty="0"/>
          </a:p>
        </p:txBody>
      </p:sp>
      <p:sp>
        <p:nvSpPr>
          <p:cNvPr id="4" name="Overlapping booking refused with SLOT_TAKEN mat"/>
          <p:cNvSpPr/>
          <p:nvPr/>
        </p:nvSpPr>
        <p:spPr>
          <a:xfrm>
            <a:off x="640080" y="1783080"/>
            <a:ext cx="5120640" cy="4343400"/>
          </a:xfrm>
          <a:prstGeom prst="roundRect">
            <a:avLst>
              <a:gd name="adj" fmla="val 2526"/>
            </a:avLst>
          </a:prstGeom>
          <a:solidFill>
            <a:schemeClr val="accent5"/>
          </a:solidFill>
          <a:ln w="9525">
            <a:solidFill>
              <a:schemeClr val="accent2"/>
            </a:solidFill>
            <a:prstDash val="solid"/>
          </a:ln>
        </p:spPr>
      </p:sp>
      <p:pic>
        <p:nvPicPr>
          <p:cNvPr id="5" name="Overlapping booking refused with SLOT_TAKEN" descr="Overlapping booking refused with SLOT_TAKEN">    </p:cNvPr>
          <p:cNvPicPr>
            <a:picLocks noChangeAspect="1"/>
          </p:cNvPicPr>
          <p:nvPr/>
        </p:nvPicPr>
        <p:blipFill>
          <a:blip r:embed="rId1"/>
          <a:srcRect l="3368" r="3368" t="32043" b="3872"/>
          <a:stretch/>
        </p:blipFill>
        <p:spPr>
          <a:xfrm>
            <a:off x="786384" y="2094864"/>
            <a:ext cx="4828032" cy="3719832"/>
          </a:xfrm>
          <a:prstGeom prst="rect">
            <a:avLst/>
          </a:prstGeom>
        </p:spPr>
      </p:pic>
      <p:sp>
        <p:nvSpPr>
          <p:cNvPr id="6" name="Grid heading"/>
          <p:cNvSpPr txBox="1"/>
          <p:nvPr/>
        </p:nvSpPr>
        <p:spPr>
          <a:xfrm>
            <a:off x="6263640" y="1810512"/>
            <a:ext cx="5287975" cy="365760"/>
          </a:xfrm>
          <a:prstGeom prst="rect">
            <a:avLst/>
          </a:prstGeom>
          <a:noFill/>
          <a:ln/>
        </p:spPr>
        <p:txBody>
          <a:bodyPr wrap="square" lIns="0" tIns="0" rIns="0" bIns="0" rtlCol="0" anchor="t"/>
          <a:lstStyle/>
          <a:p>
            <a:pPr indent="0" marL="0">
              <a:buNone/>
            </a:pPr>
            <a:r>
              <a:rPr lang="en-US" sz="1800" b="1" dirty="0">
                <a:solidFill>
                  <a:schemeClr val="tx1"/>
                </a:solidFill>
              </a:rPr>
              <a:t>One row per table, per 15-minute block</a:t>
            </a:r>
            <a:endParaRPr lang="en-US" sz="1800" dirty="0"/>
          </a:p>
        </p:txBody>
      </p:sp>
      <p:sp>
        <p:nvSpPr>
          <p:cNvPr id="7" name="Grid row 1 label"/>
          <p:cNvSpPr txBox="1"/>
          <p:nvPr/>
        </p:nvSpPr>
        <p:spPr>
          <a:xfrm>
            <a:off x="6263640" y="2304288"/>
            <a:ext cx="5287975" cy="274320"/>
          </a:xfrm>
          <a:prstGeom prst="rect">
            <a:avLst/>
          </a:prstGeom>
          <a:noFill/>
          <a:ln/>
        </p:spPr>
        <p:txBody>
          <a:bodyPr wrap="square" lIns="0" tIns="0" rIns="0" bIns="0" rtlCol="0" anchor="t"/>
          <a:lstStyle/>
          <a:p>
            <a:pPr indent="0" marL="0">
              <a:buNone/>
            </a:pPr>
            <a:r>
              <a:rPr lang="en-US" sz="1200" dirty="0">
                <a:solidFill>
                  <a:schemeClr val="tx2"/>
                </a:solidFill>
              </a:rPr>
              <a:t>Existing booking   19:00 for 90 min</a:t>
            </a:r>
            <a:endParaRPr lang="en-US" sz="1200" dirty="0"/>
          </a:p>
        </p:txBody>
      </p:sp>
      <p:sp>
        <p:nvSpPr>
          <p:cNvPr id="8" name="Grid row 1 block 1"/>
          <p:cNvSpPr/>
          <p:nvPr/>
        </p:nvSpPr>
        <p:spPr>
          <a:xfrm>
            <a:off x="6291072" y="2606040"/>
            <a:ext cx="473934" cy="384048"/>
          </a:xfrm>
          <a:prstGeom prst="rect">
            <a:avLst/>
          </a:prstGeom>
          <a:solidFill>
            <a:schemeClr val="bg1"/>
          </a:solidFill>
          <a:ln w="9525">
            <a:solidFill>
              <a:schemeClr val="accent2"/>
            </a:solidFill>
            <a:prstDash val="solid"/>
          </a:ln>
        </p:spPr>
      </p:sp>
      <p:sp>
        <p:nvSpPr>
          <p:cNvPr id="9" name="Grid row 1 block 2"/>
          <p:cNvSpPr/>
          <p:nvPr/>
        </p:nvSpPr>
        <p:spPr>
          <a:xfrm>
            <a:off x="6819870" y="2606040"/>
            <a:ext cx="473934" cy="384048"/>
          </a:xfrm>
          <a:prstGeom prst="rect">
            <a:avLst/>
          </a:prstGeom>
          <a:solidFill>
            <a:schemeClr val="accent5"/>
          </a:solidFill>
          <a:ln w="12700">
            <a:solidFill>
              <a:schemeClr val="accent1"/>
            </a:solidFill>
            <a:prstDash val="solid"/>
          </a:ln>
        </p:spPr>
      </p:sp>
      <p:sp>
        <p:nvSpPr>
          <p:cNvPr id="10" name="Grid row 1 block 3"/>
          <p:cNvSpPr/>
          <p:nvPr/>
        </p:nvSpPr>
        <p:spPr>
          <a:xfrm>
            <a:off x="7348667" y="2606040"/>
            <a:ext cx="473934" cy="384048"/>
          </a:xfrm>
          <a:prstGeom prst="rect">
            <a:avLst/>
          </a:prstGeom>
          <a:solidFill>
            <a:schemeClr val="accent5"/>
          </a:solidFill>
          <a:ln w="12700">
            <a:solidFill>
              <a:schemeClr val="accent1"/>
            </a:solidFill>
            <a:prstDash val="solid"/>
          </a:ln>
        </p:spPr>
      </p:sp>
      <p:sp>
        <p:nvSpPr>
          <p:cNvPr id="11" name="Grid row 1 block 4"/>
          <p:cNvSpPr/>
          <p:nvPr/>
        </p:nvSpPr>
        <p:spPr>
          <a:xfrm>
            <a:off x="7877465" y="2606040"/>
            <a:ext cx="473934" cy="384048"/>
          </a:xfrm>
          <a:prstGeom prst="rect">
            <a:avLst/>
          </a:prstGeom>
          <a:solidFill>
            <a:schemeClr val="accent5"/>
          </a:solidFill>
          <a:ln w="12700">
            <a:solidFill>
              <a:schemeClr val="accent1"/>
            </a:solidFill>
            <a:prstDash val="solid"/>
          </a:ln>
        </p:spPr>
      </p:sp>
      <p:sp>
        <p:nvSpPr>
          <p:cNvPr id="12" name="Grid row 1 block 5"/>
          <p:cNvSpPr/>
          <p:nvPr/>
        </p:nvSpPr>
        <p:spPr>
          <a:xfrm>
            <a:off x="8406262" y="2606040"/>
            <a:ext cx="473934" cy="384048"/>
          </a:xfrm>
          <a:prstGeom prst="rect">
            <a:avLst/>
          </a:prstGeom>
          <a:solidFill>
            <a:schemeClr val="accent5"/>
          </a:solidFill>
          <a:ln w="12700">
            <a:solidFill>
              <a:schemeClr val="accent1"/>
            </a:solidFill>
            <a:prstDash val="solid"/>
          </a:ln>
        </p:spPr>
      </p:sp>
      <p:sp>
        <p:nvSpPr>
          <p:cNvPr id="13" name="Grid row 1 block 6"/>
          <p:cNvSpPr/>
          <p:nvPr/>
        </p:nvSpPr>
        <p:spPr>
          <a:xfrm>
            <a:off x="8935060" y="2606040"/>
            <a:ext cx="473934" cy="384048"/>
          </a:xfrm>
          <a:prstGeom prst="rect">
            <a:avLst/>
          </a:prstGeom>
          <a:solidFill>
            <a:schemeClr val="accent5"/>
          </a:solidFill>
          <a:ln w="12700">
            <a:solidFill>
              <a:schemeClr val="accent1"/>
            </a:solidFill>
            <a:prstDash val="solid"/>
          </a:ln>
        </p:spPr>
      </p:sp>
      <p:sp>
        <p:nvSpPr>
          <p:cNvPr id="14" name="Grid row 1 block 7"/>
          <p:cNvSpPr/>
          <p:nvPr/>
        </p:nvSpPr>
        <p:spPr>
          <a:xfrm>
            <a:off x="9463857" y="2606040"/>
            <a:ext cx="473934" cy="384048"/>
          </a:xfrm>
          <a:prstGeom prst="rect">
            <a:avLst/>
          </a:prstGeom>
          <a:solidFill>
            <a:schemeClr val="accent5"/>
          </a:solidFill>
          <a:ln w="12700">
            <a:solidFill>
              <a:schemeClr val="accent1"/>
            </a:solidFill>
            <a:prstDash val="solid"/>
          </a:ln>
        </p:spPr>
      </p:sp>
      <p:sp>
        <p:nvSpPr>
          <p:cNvPr id="15" name="Grid row 1 block 8"/>
          <p:cNvSpPr/>
          <p:nvPr/>
        </p:nvSpPr>
        <p:spPr>
          <a:xfrm>
            <a:off x="9992655" y="2606040"/>
            <a:ext cx="473934" cy="384048"/>
          </a:xfrm>
          <a:prstGeom prst="rect">
            <a:avLst/>
          </a:prstGeom>
          <a:solidFill>
            <a:schemeClr val="bg1"/>
          </a:solidFill>
          <a:ln w="9525">
            <a:solidFill>
              <a:schemeClr val="accent2"/>
            </a:solidFill>
            <a:prstDash val="solid"/>
          </a:ln>
        </p:spPr>
      </p:sp>
      <p:sp>
        <p:nvSpPr>
          <p:cNvPr id="16" name="Grid row 1 block 9"/>
          <p:cNvSpPr/>
          <p:nvPr/>
        </p:nvSpPr>
        <p:spPr>
          <a:xfrm>
            <a:off x="10521452" y="2606040"/>
            <a:ext cx="473934" cy="384048"/>
          </a:xfrm>
          <a:prstGeom prst="rect">
            <a:avLst/>
          </a:prstGeom>
          <a:solidFill>
            <a:schemeClr val="bg1"/>
          </a:solidFill>
          <a:ln w="9525">
            <a:solidFill>
              <a:schemeClr val="accent2"/>
            </a:solidFill>
            <a:prstDash val="solid"/>
          </a:ln>
        </p:spPr>
      </p:sp>
      <p:sp>
        <p:nvSpPr>
          <p:cNvPr id="17" name="Grid row 1 block 10"/>
          <p:cNvSpPr/>
          <p:nvPr/>
        </p:nvSpPr>
        <p:spPr>
          <a:xfrm>
            <a:off x="11050250" y="2606040"/>
            <a:ext cx="473934" cy="384048"/>
          </a:xfrm>
          <a:prstGeom prst="rect">
            <a:avLst/>
          </a:prstGeom>
          <a:solidFill>
            <a:schemeClr val="bg1"/>
          </a:solidFill>
          <a:ln w="9525">
            <a:solidFill>
              <a:schemeClr val="accent2"/>
            </a:solidFill>
            <a:prstDash val="solid"/>
          </a:ln>
        </p:spPr>
      </p:sp>
      <p:sp>
        <p:nvSpPr>
          <p:cNvPr id="18" name="Grid row 2 label"/>
          <p:cNvSpPr txBox="1"/>
          <p:nvPr/>
        </p:nvSpPr>
        <p:spPr>
          <a:xfrm>
            <a:off x="6263640" y="3127248"/>
            <a:ext cx="5287975" cy="274320"/>
          </a:xfrm>
          <a:prstGeom prst="rect">
            <a:avLst/>
          </a:prstGeom>
          <a:noFill/>
          <a:ln/>
        </p:spPr>
        <p:txBody>
          <a:bodyPr wrap="square" lIns="0" tIns="0" rIns="0" bIns="0" rtlCol="0" anchor="t"/>
          <a:lstStyle/>
          <a:p>
            <a:pPr indent="0" marL="0">
              <a:buNone/>
            </a:pPr>
            <a:r>
              <a:rPr lang="en-US" sz="1200" dirty="0">
                <a:solidFill>
                  <a:schemeClr val="tx2"/>
                </a:solidFill>
              </a:rPr>
              <a:t>New request   19:30 for 90 min</a:t>
            </a:r>
            <a:endParaRPr lang="en-US" sz="1200" dirty="0"/>
          </a:p>
        </p:txBody>
      </p:sp>
      <p:sp>
        <p:nvSpPr>
          <p:cNvPr id="19" name="Grid row 2 block 1"/>
          <p:cNvSpPr/>
          <p:nvPr/>
        </p:nvSpPr>
        <p:spPr>
          <a:xfrm>
            <a:off x="6291072" y="3429000"/>
            <a:ext cx="473934" cy="384048"/>
          </a:xfrm>
          <a:prstGeom prst="rect">
            <a:avLst/>
          </a:prstGeom>
          <a:solidFill>
            <a:schemeClr val="bg1"/>
          </a:solidFill>
          <a:ln w="9525">
            <a:solidFill>
              <a:schemeClr val="accent2"/>
            </a:solidFill>
            <a:prstDash val="solid"/>
          </a:ln>
        </p:spPr>
      </p:sp>
      <p:sp>
        <p:nvSpPr>
          <p:cNvPr id="20" name="Grid row 2 block 2"/>
          <p:cNvSpPr/>
          <p:nvPr/>
        </p:nvSpPr>
        <p:spPr>
          <a:xfrm>
            <a:off x="6819870" y="3429000"/>
            <a:ext cx="473934" cy="384048"/>
          </a:xfrm>
          <a:prstGeom prst="rect">
            <a:avLst/>
          </a:prstGeom>
          <a:solidFill>
            <a:schemeClr val="bg1"/>
          </a:solidFill>
          <a:ln w="9525">
            <a:solidFill>
              <a:schemeClr val="accent2"/>
            </a:solidFill>
            <a:prstDash val="solid"/>
          </a:ln>
        </p:spPr>
      </p:sp>
      <p:sp>
        <p:nvSpPr>
          <p:cNvPr id="21" name="Grid row 2 block 3"/>
          <p:cNvSpPr/>
          <p:nvPr/>
        </p:nvSpPr>
        <p:spPr>
          <a:xfrm>
            <a:off x="7348667" y="3429000"/>
            <a:ext cx="473934" cy="384048"/>
          </a:xfrm>
          <a:prstGeom prst="rect">
            <a:avLst/>
          </a:prstGeom>
          <a:solidFill>
            <a:schemeClr val="bg1"/>
          </a:solidFill>
          <a:ln w="9525">
            <a:solidFill>
              <a:schemeClr val="accent2"/>
            </a:solidFill>
            <a:prstDash val="solid"/>
          </a:ln>
        </p:spPr>
      </p:sp>
      <p:sp>
        <p:nvSpPr>
          <p:cNvPr id="22" name="Grid row 2 block 4"/>
          <p:cNvSpPr/>
          <p:nvPr/>
        </p:nvSpPr>
        <p:spPr>
          <a:xfrm>
            <a:off x="7877465" y="3429000"/>
            <a:ext cx="473934" cy="384048"/>
          </a:xfrm>
          <a:prstGeom prst="rect">
            <a:avLst/>
          </a:prstGeom>
          <a:solidFill>
            <a:schemeClr val="accent6"/>
          </a:solidFill>
          <a:ln w="12700">
            <a:solidFill>
              <a:schemeClr val="accent4"/>
            </a:solidFill>
            <a:prstDash val="solid"/>
          </a:ln>
        </p:spPr>
      </p:sp>
      <p:sp>
        <p:nvSpPr>
          <p:cNvPr id="23" name="Grid row 2 block 5"/>
          <p:cNvSpPr/>
          <p:nvPr/>
        </p:nvSpPr>
        <p:spPr>
          <a:xfrm>
            <a:off x="8406262" y="3429000"/>
            <a:ext cx="473934" cy="384048"/>
          </a:xfrm>
          <a:prstGeom prst="rect">
            <a:avLst/>
          </a:prstGeom>
          <a:solidFill>
            <a:schemeClr val="accent6"/>
          </a:solidFill>
          <a:ln w="12700">
            <a:solidFill>
              <a:schemeClr val="accent4"/>
            </a:solidFill>
            <a:prstDash val="solid"/>
          </a:ln>
        </p:spPr>
      </p:sp>
      <p:sp>
        <p:nvSpPr>
          <p:cNvPr id="24" name="Grid row 2 block 6"/>
          <p:cNvSpPr/>
          <p:nvPr/>
        </p:nvSpPr>
        <p:spPr>
          <a:xfrm>
            <a:off x="8935060" y="3429000"/>
            <a:ext cx="473934" cy="384048"/>
          </a:xfrm>
          <a:prstGeom prst="rect">
            <a:avLst/>
          </a:prstGeom>
          <a:solidFill>
            <a:schemeClr val="accent6"/>
          </a:solidFill>
          <a:ln w="12700">
            <a:solidFill>
              <a:schemeClr val="accent4"/>
            </a:solidFill>
            <a:prstDash val="solid"/>
          </a:ln>
        </p:spPr>
      </p:sp>
      <p:sp>
        <p:nvSpPr>
          <p:cNvPr id="25" name="Grid row 2 block 7"/>
          <p:cNvSpPr/>
          <p:nvPr/>
        </p:nvSpPr>
        <p:spPr>
          <a:xfrm>
            <a:off x="9463857" y="3429000"/>
            <a:ext cx="473934" cy="384048"/>
          </a:xfrm>
          <a:prstGeom prst="rect">
            <a:avLst/>
          </a:prstGeom>
          <a:solidFill>
            <a:schemeClr val="accent6"/>
          </a:solidFill>
          <a:ln w="12700">
            <a:solidFill>
              <a:schemeClr val="accent4"/>
            </a:solidFill>
            <a:prstDash val="solid"/>
          </a:ln>
        </p:spPr>
      </p:sp>
      <p:sp>
        <p:nvSpPr>
          <p:cNvPr id="26" name="Grid row 2 block 8"/>
          <p:cNvSpPr/>
          <p:nvPr/>
        </p:nvSpPr>
        <p:spPr>
          <a:xfrm>
            <a:off x="9992655" y="3429000"/>
            <a:ext cx="473934" cy="384048"/>
          </a:xfrm>
          <a:prstGeom prst="rect">
            <a:avLst/>
          </a:prstGeom>
          <a:solidFill>
            <a:schemeClr val="bg2"/>
          </a:solidFill>
          <a:ln w="12700">
            <a:solidFill>
              <a:schemeClr val="accent1"/>
            </a:solidFill>
            <a:prstDash val="solid"/>
          </a:ln>
        </p:spPr>
      </p:sp>
      <p:sp>
        <p:nvSpPr>
          <p:cNvPr id="27" name="Grid row 2 block 9"/>
          <p:cNvSpPr/>
          <p:nvPr/>
        </p:nvSpPr>
        <p:spPr>
          <a:xfrm>
            <a:off x="10521452" y="3429000"/>
            <a:ext cx="473934" cy="384048"/>
          </a:xfrm>
          <a:prstGeom prst="rect">
            <a:avLst/>
          </a:prstGeom>
          <a:solidFill>
            <a:schemeClr val="bg2"/>
          </a:solidFill>
          <a:ln w="12700">
            <a:solidFill>
              <a:schemeClr val="accent1"/>
            </a:solidFill>
            <a:prstDash val="solid"/>
          </a:ln>
        </p:spPr>
      </p:sp>
      <p:sp>
        <p:nvSpPr>
          <p:cNvPr id="28" name="Grid row 2 block 10"/>
          <p:cNvSpPr/>
          <p:nvPr/>
        </p:nvSpPr>
        <p:spPr>
          <a:xfrm>
            <a:off x="11050250" y="3429000"/>
            <a:ext cx="473934" cy="384048"/>
          </a:xfrm>
          <a:prstGeom prst="rect">
            <a:avLst/>
          </a:prstGeom>
          <a:solidFill>
            <a:schemeClr val="bg1"/>
          </a:solidFill>
          <a:ln w="9525">
            <a:solidFill>
              <a:schemeClr val="accent2"/>
            </a:solidFill>
            <a:prstDash val="solid"/>
          </a:ln>
        </p:spPr>
      </p:sp>
      <p:sp>
        <p:nvSpPr>
          <p:cNvPr id="29" name="Grid tick 19:00"/>
          <p:cNvSpPr txBox="1"/>
          <p:nvPr/>
        </p:nvSpPr>
        <p:spPr>
          <a:xfrm>
            <a:off x="6426678" y="3950208"/>
            <a:ext cx="731520" cy="228600"/>
          </a:xfrm>
          <a:prstGeom prst="rect">
            <a:avLst/>
          </a:prstGeom>
          <a:noFill/>
          <a:ln/>
        </p:spPr>
        <p:txBody>
          <a:bodyPr wrap="square" lIns="0" tIns="0" rIns="0" bIns="0" rtlCol="0" anchor="t"/>
          <a:lstStyle/>
          <a:p>
            <a:pPr algn="ctr" indent="0" marL="0">
              <a:buNone/>
            </a:pPr>
            <a:r>
              <a:rPr lang="en-US" sz="1000" dirty="0">
                <a:solidFill>
                  <a:schemeClr val="tx2"/>
                </a:solidFill>
              </a:rPr>
              <a:t>19:00</a:t>
            </a:r>
            <a:endParaRPr lang="en-US" sz="1000" dirty="0"/>
          </a:p>
        </p:txBody>
      </p:sp>
      <p:sp>
        <p:nvSpPr>
          <p:cNvPr id="30" name="Grid tick 19:30"/>
          <p:cNvSpPr txBox="1"/>
          <p:nvPr/>
        </p:nvSpPr>
        <p:spPr>
          <a:xfrm>
            <a:off x="7484273" y="3950208"/>
            <a:ext cx="731520" cy="228600"/>
          </a:xfrm>
          <a:prstGeom prst="rect">
            <a:avLst/>
          </a:prstGeom>
          <a:noFill/>
          <a:ln/>
        </p:spPr>
        <p:txBody>
          <a:bodyPr wrap="square" lIns="0" tIns="0" rIns="0" bIns="0" rtlCol="0" anchor="t"/>
          <a:lstStyle/>
          <a:p>
            <a:pPr algn="ctr" indent="0" marL="0">
              <a:buNone/>
            </a:pPr>
            <a:r>
              <a:rPr lang="en-US" sz="1000" dirty="0">
                <a:solidFill>
                  <a:schemeClr val="tx2"/>
                </a:solidFill>
              </a:rPr>
              <a:t>19:30</a:t>
            </a:r>
            <a:endParaRPr lang="en-US" sz="1000" dirty="0"/>
          </a:p>
        </p:txBody>
      </p:sp>
      <p:sp>
        <p:nvSpPr>
          <p:cNvPr id="31" name="Grid tick 20:00"/>
          <p:cNvSpPr txBox="1"/>
          <p:nvPr/>
        </p:nvSpPr>
        <p:spPr>
          <a:xfrm>
            <a:off x="8541868" y="3950208"/>
            <a:ext cx="731520" cy="228600"/>
          </a:xfrm>
          <a:prstGeom prst="rect">
            <a:avLst/>
          </a:prstGeom>
          <a:noFill/>
          <a:ln/>
        </p:spPr>
        <p:txBody>
          <a:bodyPr wrap="square" lIns="0" tIns="0" rIns="0" bIns="0" rtlCol="0" anchor="t"/>
          <a:lstStyle/>
          <a:p>
            <a:pPr algn="ctr" indent="0" marL="0">
              <a:buNone/>
            </a:pPr>
            <a:r>
              <a:rPr lang="en-US" sz="1000" dirty="0">
                <a:solidFill>
                  <a:schemeClr val="tx2"/>
                </a:solidFill>
              </a:rPr>
              <a:t>20:00</a:t>
            </a:r>
            <a:endParaRPr lang="en-US" sz="1000" dirty="0"/>
          </a:p>
        </p:txBody>
      </p:sp>
      <p:sp>
        <p:nvSpPr>
          <p:cNvPr id="32" name="Grid tick 20:30"/>
          <p:cNvSpPr txBox="1"/>
          <p:nvPr/>
        </p:nvSpPr>
        <p:spPr>
          <a:xfrm>
            <a:off x="9599463" y="3950208"/>
            <a:ext cx="731520" cy="228600"/>
          </a:xfrm>
          <a:prstGeom prst="rect">
            <a:avLst/>
          </a:prstGeom>
          <a:noFill/>
          <a:ln/>
        </p:spPr>
        <p:txBody>
          <a:bodyPr wrap="square" lIns="0" tIns="0" rIns="0" bIns="0" rtlCol="0" anchor="t"/>
          <a:lstStyle/>
          <a:p>
            <a:pPr algn="ctr" indent="0" marL="0">
              <a:buNone/>
            </a:pPr>
            <a:r>
              <a:rPr lang="en-US" sz="1000" dirty="0">
                <a:solidFill>
                  <a:schemeClr val="tx2"/>
                </a:solidFill>
              </a:rPr>
              <a:t>20:30</a:t>
            </a:r>
            <a:endParaRPr lang="en-US" sz="1000" dirty="0"/>
          </a:p>
        </p:txBody>
      </p:sp>
      <p:sp>
        <p:nvSpPr>
          <p:cNvPr id="33" name="Grid tick 21:00"/>
          <p:cNvSpPr txBox="1"/>
          <p:nvPr/>
        </p:nvSpPr>
        <p:spPr>
          <a:xfrm>
            <a:off x="10657058" y="3950208"/>
            <a:ext cx="731520" cy="228600"/>
          </a:xfrm>
          <a:prstGeom prst="rect">
            <a:avLst/>
          </a:prstGeom>
          <a:noFill/>
          <a:ln/>
        </p:spPr>
        <p:txBody>
          <a:bodyPr wrap="square" lIns="0" tIns="0" rIns="0" bIns="0" rtlCol="0" anchor="t"/>
          <a:lstStyle/>
          <a:p>
            <a:pPr algn="ctr" indent="0" marL="0">
              <a:buNone/>
            </a:pPr>
            <a:r>
              <a:rPr lang="en-US" sz="1000" dirty="0">
                <a:solidFill>
                  <a:schemeClr val="tx2"/>
                </a:solidFill>
              </a:rPr>
              <a:t>21:00</a:t>
            </a:r>
            <a:endParaRPr lang="en-US" sz="1000" dirty="0"/>
          </a:p>
        </p:txBody>
      </p:sp>
      <p:sp>
        <p:nvSpPr>
          <p:cNvPr id="34" name="Clash legend chip"/>
          <p:cNvSpPr/>
          <p:nvPr/>
        </p:nvSpPr>
        <p:spPr>
          <a:xfrm>
            <a:off x="6263640" y="4462272"/>
            <a:ext cx="201168" cy="201168"/>
          </a:xfrm>
          <a:prstGeom prst="rect">
            <a:avLst/>
          </a:prstGeom>
          <a:solidFill>
            <a:schemeClr val="accent6"/>
          </a:solidFill>
          <a:ln w="12700">
            <a:solidFill>
              <a:schemeClr val="accent4"/>
            </a:solidFill>
            <a:prstDash val="solid"/>
          </a:ln>
        </p:spPr>
      </p:sp>
      <p:sp>
        <p:nvSpPr>
          <p:cNvPr id="35" name="Clash legend text"/>
          <p:cNvSpPr txBox="1"/>
          <p:nvPr/>
        </p:nvSpPr>
        <p:spPr>
          <a:xfrm>
            <a:off x="6611112" y="4407408"/>
            <a:ext cx="4940503" cy="548640"/>
          </a:xfrm>
          <a:prstGeom prst="rect">
            <a:avLst/>
          </a:prstGeom>
          <a:noFill/>
          <a:ln/>
        </p:spPr>
        <p:txBody>
          <a:bodyPr wrap="square" lIns="0" tIns="0" rIns="0" bIns="0" rtlCol="0" anchor="t"/>
          <a:lstStyle/>
          <a:p>
            <a:pPr indent="0" marL="0">
              <a:buNone/>
            </a:pPr>
            <a:r>
              <a:rPr lang="en-US" sz="1400" dirty="0">
                <a:solidFill>
                  <a:schemeClr val="tx1"/>
                </a:solidFill>
              </a:rPr>
              <a:t>4 blocks are already taken, so the new row is refused: </a:t>
            </a:r>
            <a:pPr indent="0" marL="0">
              <a:buNone/>
            </a:pPr>
            <a:r>
              <a:rPr lang="en-US" sz="1400" b="1" dirty="0">
                <a:solidFill>
                  <a:schemeClr val="accent4"/>
                </a:solidFill>
              </a:rPr>
              <a:t>SLOT_TAKEN</a:t>
            </a:r>
            <a:endParaRPr lang="en-US" sz="1400" dirty="0"/>
          </a:p>
        </p:txBody>
      </p:sp>
      <p:sp>
        <p:nvSpPr>
          <p:cNvPr id="36" name="Primary key panel"/>
          <p:cNvSpPr/>
          <p:nvPr/>
        </p:nvSpPr>
        <p:spPr>
          <a:xfrm>
            <a:off x="6263640" y="5120640"/>
            <a:ext cx="5287975" cy="914400"/>
          </a:xfrm>
          <a:prstGeom prst="roundRect">
            <a:avLst>
              <a:gd name="adj" fmla="val 8000"/>
            </a:avLst>
          </a:prstGeom>
          <a:solidFill>
            <a:schemeClr val="bg2"/>
          </a:solidFill>
          <a:ln w="9525">
            <a:solidFill>
              <a:schemeClr val="accent2"/>
            </a:solidFill>
            <a:prstDash val="solid"/>
          </a:ln>
        </p:spPr>
      </p:sp>
      <p:sp>
        <p:nvSpPr>
          <p:cNvPr id="37" name="Primary key text"/>
          <p:cNvSpPr txBox="1"/>
          <p:nvPr/>
        </p:nvSpPr>
        <p:spPr>
          <a:xfrm>
            <a:off x="6492240" y="5230368"/>
            <a:ext cx="4830775" cy="73152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latin typeface="Consolas" pitchFamily="34" charset="0"/>
                <a:ea typeface="Consolas" pitchFamily="34" charset="-122"/>
                <a:cs typeface="Consolas" pitchFamily="34" charset="-120"/>
              </a:rPr>
              <a:t>PRIMARY KEY (table, block)</a:t>
            </a:r>
            <a:endParaRPr lang="en-US" sz="1500" dirty="0"/>
          </a:p>
          <a:p>
            <a:pPr indent="0" marL="0">
              <a:spcAft>
                <a:spcPts val="400"/>
              </a:spcAft>
              <a:buNone/>
            </a:pPr>
            <a:r>
              <a:rPr lang="en-US" sz="1300" dirty="0">
                <a:solidFill>
                  <a:schemeClr val="tx2"/>
                </a:solidFill>
              </a:rPr>
              <a:t>The only check. No locks, no availability lookup first.</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73152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05   PROOF</a:t>
            </a:r>
            <a:endParaRPr lang="en-US" sz="1200" dirty="0"/>
          </a:p>
        </p:txBody>
      </p:sp>
      <p:sp>
        <p:nvSpPr>
          <p:cNvPr id="3" name="Text 0"/>
          <p:cNvSpPr/>
          <p:nvPr>
            <p:ph idx="101" type="title" hasCustomPrompt="1"/>
          </p:nvPr>
        </p:nvSpPr>
        <p:spPr>
          <a:xfrm>
            <a:off x="640080" y="786384"/>
            <a:ext cx="10911535" cy="731520"/>
          </a:xfrm>
          <a:prstGeom prst="rect">
            <a:avLst/>
          </a:prstGeom>
          <a:noFill/>
          <a:ln/>
        </p:spPr>
        <p:txBody>
          <a:bodyPr wrap="square" lIns="0" tIns="0" rIns="0" bIns="0" rtlCol="0" anchor="t"/>
          <a:lstStyle/>
          <a:p>
            <a:pPr algn="l" indent="0" marL="0">
              <a:buNone/>
            </a:pPr>
            <a:r>
              <a:rPr lang="en-US" sz="3200" b="1" dirty="0">
                <a:solidFill>
                  <a:schemeClr val="tx1"/>
                </a:solidFill>
              </a:rPr>
              <a:t>Twenty requests at once. One booking.</a:t>
            </a:r>
            <a:endParaRPr lang="en-US" sz="3200" dirty="0"/>
          </a:p>
        </p:txBody>
      </p:sp>
      <p:sp>
        <p:nvSpPr>
          <p:cNvPr id="4" name="Proof stat 1 value"/>
          <p:cNvSpPr txBox="1"/>
          <p:nvPr/>
        </p:nvSpPr>
        <p:spPr>
          <a:xfrm>
            <a:off x="640080" y="1783080"/>
            <a:ext cx="2468880" cy="1005840"/>
          </a:xfrm>
          <a:prstGeom prst="rect">
            <a:avLst/>
          </a:prstGeom>
          <a:noFill/>
          <a:ln/>
        </p:spPr>
        <p:txBody>
          <a:bodyPr wrap="square" lIns="0" tIns="0" rIns="0" bIns="0" rtlCol="0" anchor="t"/>
          <a:lstStyle/>
          <a:p>
            <a:pPr indent="0" marL="0">
              <a:buNone/>
            </a:pPr>
            <a:r>
              <a:rPr lang="en-US" sz="6000" b="1" dirty="0">
                <a:solidFill>
                  <a:schemeClr val="accent1"/>
                </a:solidFill>
              </a:rPr>
              <a:t>1</a:t>
            </a:r>
            <a:endParaRPr lang="en-US" sz="6000" dirty="0"/>
          </a:p>
        </p:txBody>
      </p:sp>
      <p:sp>
        <p:nvSpPr>
          <p:cNvPr id="5" name="Proof stat 1 label"/>
          <p:cNvSpPr txBox="1"/>
          <p:nvPr/>
        </p:nvSpPr>
        <p:spPr>
          <a:xfrm>
            <a:off x="640080" y="2880360"/>
            <a:ext cx="2468880" cy="822960"/>
          </a:xfrm>
          <a:prstGeom prst="rect">
            <a:avLst/>
          </a:prstGeom>
          <a:noFill/>
          <a:ln/>
        </p:spPr>
        <p:txBody>
          <a:bodyPr wrap="square" lIns="0" tIns="0" rIns="0" bIns="0" rtlCol="0" anchor="t"/>
          <a:lstStyle/>
          <a:p>
            <a:pPr indent="0" marL="0">
              <a:buNone/>
            </a:pPr>
            <a:r>
              <a:rPr lang="en-US" sz="1500" dirty="0">
                <a:solidFill>
                  <a:schemeClr val="tx2"/>
                </a:solidFill>
              </a:rPr>
              <a:t>booking created</a:t>
            </a:r>
            <a:endParaRPr lang="en-US" sz="1500" dirty="0"/>
          </a:p>
        </p:txBody>
      </p:sp>
      <p:sp>
        <p:nvSpPr>
          <p:cNvPr id="6" name="Proof divider 1"/>
          <p:cNvSpPr/>
          <p:nvPr/>
        </p:nvSpPr>
        <p:spPr>
          <a:xfrm>
            <a:off x="3281629" y="1920240"/>
            <a:ext cx="0" cy="1600200"/>
          </a:xfrm>
          <a:prstGeom prst="line">
            <a:avLst/>
          </a:prstGeom>
          <a:noFill/>
          <a:ln w="9525">
            <a:solidFill>
              <a:schemeClr val="accent2"/>
            </a:solidFill>
            <a:prstDash val="solid"/>
          </a:ln>
        </p:spPr>
      </p:sp>
      <p:sp>
        <p:nvSpPr>
          <p:cNvPr id="7" name="Proof stat 2 value"/>
          <p:cNvSpPr txBox="1"/>
          <p:nvPr/>
        </p:nvSpPr>
        <p:spPr>
          <a:xfrm>
            <a:off x="3454298" y="1783080"/>
            <a:ext cx="2468880" cy="1005840"/>
          </a:xfrm>
          <a:prstGeom prst="rect">
            <a:avLst/>
          </a:prstGeom>
          <a:noFill/>
          <a:ln/>
        </p:spPr>
        <p:txBody>
          <a:bodyPr wrap="square" lIns="0" tIns="0" rIns="0" bIns="0" rtlCol="0" anchor="t"/>
          <a:lstStyle/>
          <a:p>
            <a:pPr indent="0" marL="0">
              <a:buNone/>
            </a:pPr>
            <a:r>
              <a:rPr lang="en-US" sz="6000" b="1" dirty="0">
                <a:solidFill>
                  <a:schemeClr val="tx1"/>
                </a:solidFill>
              </a:rPr>
              <a:t>19</a:t>
            </a:r>
            <a:endParaRPr lang="en-US" sz="6000" dirty="0"/>
          </a:p>
        </p:txBody>
      </p:sp>
      <p:sp>
        <p:nvSpPr>
          <p:cNvPr id="8" name="Proof stat 2 label"/>
          <p:cNvSpPr txBox="1"/>
          <p:nvPr/>
        </p:nvSpPr>
        <p:spPr>
          <a:xfrm>
            <a:off x="3454298" y="2880360"/>
            <a:ext cx="2468880" cy="822960"/>
          </a:xfrm>
          <a:prstGeom prst="rect">
            <a:avLst/>
          </a:prstGeom>
          <a:noFill/>
          <a:ln/>
        </p:spPr>
        <p:txBody>
          <a:bodyPr wrap="square" lIns="0" tIns="0" rIns="0" bIns="0" rtlCol="0" anchor="t"/>
          <a:lstStyle/>
          <a:p>
            <a:pPr indent="0" marL="0">
              <a:buNone/>
            </a:pPr>
            <a:r>
              <a:rPr lang="en-US" sz="1500" dirty="0">
                <a:solidFill>
                  <a:schemeClr val="tx2"/>
                </a:solidFill>
              </a:rPr>
              <a:t>refused with SLOT_TAKEN</a:t>
            </a:r>
            <a:endParaRPr lang="en-US" sz="1500" dirty="0"/>
          </a:p>
        </p:txBody>
      </p:sp>
      <p:sp>
        <p:nvSpPr>
          <p:cNvPr id="9" name="Proof divider 2"/>
          <p:cNvSpPr/>
          <p:nvPr/>
        </p:nvSpPr>
        <p:spPr>
          <a:xfrm>
            <a:off x="6095848" y="1920240"/>
            <a:ext cx="0" cy="1600200"/>
          </a:xfrm>
          <a:prstGeom prst="line">
            <a:avLst/>
          </a:prstGeom>
          <a:noFill/>
          <a:ln w="9525">
            <a:solidFill>
              <a:schemeClr val="accent2"/>
            </a:solidFill>
            <a:prstDash val="solid"/>
          </a:ln>
        </p:spPr>
      </p:sp>
      <p:sp>
        <p:nvSpPr>
          <p:cNvPr id="10" name="Proof stat 3 value"/>
          <p:cNvSpPr txBox="1"/>
          <p:nvPr/>
        </p:nvSpPr>
        <p:spPr>
          <a:xfrm>
            <a:off x="6268517" y="1783080"/>
            <a:ext cx="2468880" cy="1005840"/>
          </a:xfrm>
          <a:prstGeom prst="rect">
            <a:avLst/>
          </a:prstGeom>
          <a:noFill/>
          <a:ln/>
        </p:spPr>
        <p:txBody>
          <a:bodyPr wrap="square" lIns="0" tIns="0" rIns="0" bIns="0" rtlCol="0" anchor="t"/>
          <a:lstStyle/>
          <a:p>
            <a:pPr indent="0" marL="0">
              <a:buNone/>
            </a:pPr>
            <a:r>
              <a:rPr lang="en-US" sz="6000" b="1" dirty="0">
                <a:solidFill>
                  <a:schemeClr val="tx1"/>
                </a:solidFill>
              </a:rPr>
              <a:t>57</a:t>
            </a:r>
            <a:endParaRPr lang="en-US" sz="6000" dirty="0"/>
          </a:p>
        </p:txBody>
      </p:sp>
      <p:sp>
        <p:nvSpPr>
          <p:cNvPr id="11" name="Proof stat 3 label"/>
          <p:cNvSpPr txBox="1"/>
          <p:nvPr/>
        </p:nvSpPr>
        <p:spPr>
          <a:xfrm>
            <a:off x="6268517" y="2880360"/>
            <a:ext cx="2468880" cy="822960"/>
          </a:xfrm>
          <a:prstGeom prst="rect">
            <a:avLst/>
          </a:prstGeom>
          <a:noFill/>
          <a:ln/>
        </p:spPr>
        <p:txBody>
          <a:bodyPr wrap="square" lIns="0" tIns="0" rIns="0" bIns="0" rtlCol="0" anchor="t"/>
          <a:lstStyle/>
          <a:p>
            <a:pPr indent="0" marL="0">
              <a:buNone/>
            </a:pPr>
            <a:r>
              <a:rPr lang="en-US" sz="1500" dirty="0">
                <a:solidFill>
                  <a:schemeClr val="tx2"/>
                </a:solidFill>
              </a:rPr>
              <a:t>automated tests passing</a:t>
            </a:r>
            <a:endParaRPr lang="en-US" sz="1500" dirty="0"/>
          </a:p>
        </p:txBody>
      </p:sp>
      <p:sp>
        <p:nvSpPr>
          <p:cNvPr id="12" name="Proof divider 3"/>
          <p:cNvSpPr/>
          <p:nvPr/>
        </p:nvSpPr>
        <p:spPr>
          <a:xfrm>
            <a:off x="8910066" y="1920240"/>
            <a:ext cx="0" cy="1600200"/>
          </a:xfrm>
          <a:prstGeom prst="line">
            <a:avLst/>
          </a:prstGeom>
          <a:noFill/>
          <a:ln w="9525">
            <a:solidFill>
              <a:schemeClr val="accent2"/>
            </a:solidFill>
            <a:prstDash val="solid"/>
          </a:ln>
        </p:spPr>
      </p:sp>
      <p:sp>
        <p:nvSpPr>
          <p:cNvPr id="13" name="Proof stat 4 value"/>
          <p:cNvSpPr txBox="1"/>
          <p:nvPr/>
        </p:nvSpPr>
        <p:spPr>
          <a:xfrm>
            <a:off x="9082735" y="1783080"/>
            <a:ext cx="2468880" cy="1005840"/>
          </a:xfrm>
          <a:prstGeom prst="rect">
            <a:avLst/>
          </a:prstGeom>
          <a:noFill/>
          <a:ln/>
        </p:spPr>
        <p:txBody>
          <a:bodyPr wrap="square" lIns="0" tIns="0" rIns="0" bIns="0" rtlCol="0" anchor="t"/>
          <a:lstStyle/>
          <a:p>
            <a:pPr indent="0" marL="0">
              <a:buNone/>
            </a:pPr>
            <a:r>
              <a:rPr lang="en-US" sz="6000" b="1" dirty="0">
                <a:solidFill>
                  <a:schemeClr val="tx1"/>
                </a:solidFill>
              </a:rPr>
              <a:t>12</a:t>
            </a:r>
            <a:endParaRPr lang="en-US" sz="6000" dirty="0"/>
          </a:p>
        </p:txBody>
      </p:sp>
      <p:sp>
        <p:nvSpPr>
          <p:cNvPr id="14" name="Proof stat 4 label"/>
          <p:cNvSpPr txBox="1"/>
          <p:nvPr/>
        </p:nvSpPr>
        <p:spPr>
          <a:xfrm>
            <a:off x="9082735" y="2880360"/>
            <a:ext cx="2468880" cy="822960"/>
          </a:xfrm>
          <a:prstGeom prst="rect">
            <a:avLst/>
          </a:prstGeom>
          <a:noFill/>
          <a:ln/>
        </p:spPr>
        <p:txBody>
          <a:bodyPr wrap="square" lIns="0" tIns="0" rIns="0" bIns="0" rtlCol="0" anchor="t"/>
          <a:lstStyle/>
          <a:p>
            <a:pPr indent="0" marL="0">
              <a:buNone/>
            </a:pPr>
            <a:r>
              <a:rPr lang="en-US" sz="1500" dirty="0">
                <a:solidFill>
                  <a:schemeClr val="tx2"/>
                </a:solidFill>
              </a:rPr>
              <a:t>processes racing one database file in the tests</a:t>
            </a:r>
            <a:endParaRPr lang="en-US" sz="1500" dirty="0"/>
          </a:p>
        </p:txBody>
      </p:sp>
      <p:sp>
        <p:nvSpPr>
          <p:cNvPr id="15" name="Race output panel"/>
          <p:cNvSpPr/>
          <p:nvPr/>
        </p:nvSpPr>
        <p:spPr>
          <a:xfrm>
            <a:off x="640080" y="4114800"/>
            <a:ext cx="10911535" cy="1783080"/>
          </a:xfrm>
          <a:prstGeom prst="roundRect">
            <a:avLst>
              <a:gd name="adj" fmla="val 4103"/>
            </a:avLst>
          </a:prstGeom>
          <a:solidFill>
            <a:schemeClr val="bg2"/>
          </a:solidFill>
          <a:ln w="9525">
            <a:solidFill>
              <a:schemeClr val="accent2"/>
            </a:solidFill>
            <a:prstDash val="solid"/>
          </a:ln>
        </p:spPr>
      </p:sp>
      <p:sp>
        <p:nvSpPr>
          <p:cNvPr id="16" name="Race output text"/>
          <p:cNvSpPr txBox="1"/>
          <p:nvPr/>
        </p:nvSpPr>
        <p:spPr>
          <a:xfrm>
            <a:off x="960120" y="4315968"/>
            <a:ext cx="10271455" cy="1417320"/>
          </a:xfrm>
          <a:prstGeom prst="rect">
            <a:avLst/>
          </a:prstGeom>
          <a:noFill/>
          <a:ln/>
        </p:spPr>
        <p:txBody>
          <a:bodyPr wrap="square" lIns="0" tIns="0" rIns="0" bIns="0" rtlCol="0" anchor="t"/>
          <a:lstStyle/>
          <a:p>
            <a:pPr indent="0" marL="0">
              <a:spcAft>
                <a:spcPts val="300"/>
              </a:spcAft>
              <a:buNone/>
            </a:pPr>
            <a:r>
              <a:rPr lang="en-US" sz="1400" dirty="0">
                <a:solidFill>
                  <a:schemeClr val="tx2"/>
                </a:solidFill>
                <a:latin typeface="Consolas" pitchFamily="34" charset="0"/>
                <a:ea typeface="Consolas" pitchFamily="34" charset="-122"/>
                <a:cs typeface="Consolas" pitchFamily="34" charset="-120"/>
              </a:rPr>
              <a:t>$ node stage-4/demo-race.mjs 20</a:t>
            </a:r>
            <a:endParaRPr lang="en-US" sz="1400" dirty="0"/>
          </a:p>
          <a:p>
            <a:pPr indent="0" marL="0">
              <a:spcAft>
                <a:spcPts val="300"/>
              </a:spcAft>
              <a:buNone/>
            </a:pPr>
            <a:r>
              <a:rPr lang="en-US" sz="1400" b="1" dirty="0">
                <a:solidFill>
                  <a:schemeClr val="accent1"/>
                </a:solidFill>
                <a:latin typeface="Consolas" pitchFamily="34" charset="0"/>
                <a:ea typeface="Consolas" pitchFamily="34" charset="-122"/>
                <a:cs typeface="Consolas" pitchFamily="34" charset="-120"/>
              </a:rPr>
              <a:t>  request  1  -&gt;  201  BOOKED</a:t>
            </a:r>
            <a:endParaRPr lang="en-US" sz="1400" dirty="0"/>
          </a:p>
          <a:p>
            <a:pPr indent="0" marL="0">
              <a:spcAft>
                <a:spcPts val="300"/>
              </a:spcAft>
              <a:buNone/>
            </a:pPr>
            <a:r>
              <a:rPr lang="en-US" sz="1400" dirty="0">
                <a:solidFill>
                  <a:schemeClr val="tx1"/>
                </a:solidFill>
                <a:latin typeface="Consolas" pitchFamily="34" charset="0"/>
                <a:ea typeface="Consolas" pitchFamily="34" charset="-122"/>
                <a:cs typeface="Consolas" pitchFamily="34" charset="-120"/>
              </a:rPr>
              <a:t>  request  2  -&gt;  409  SLOT_TAKEN</a:t>
            </a:r>
            <a:endParaRPr lang="en-US" sz="1400" dirty="0"/>
          </a:p>
          <a:p>
            <a:pPr indent="0" marL="0">
              <a:spcAft>
                <a:spcPts val="300"/>
              </a:spcAft>
              <a:buNone/>
            </a:pPr>
            <a:r>
              <a:rPr lang="en-US" sz="1400" dirty="0">
                <a:solidFill>
                  <a:schemeClr val="tx2"/>
                </a:solidFill>
                <a:latin typeface="Consolas" pitchFamily="34" charset="0"/>
                <a:ea typeface="Consolas" pitchFamily="34" charset="-122"/>
                <a:cs typeface="Consolas" pitchFamily="34" charset="-120"/>
              </a:rPr>
              <a:t>  ... 18 more requests, all 409 SLOT_TAKEN</a:t>
            </a:r>
            <a:endParaRPr lang="en-US" sz="1400" dirty="0"/>
          </a:p>
          <a:p>
            <a:pPr indent="0" marL="0">
              <a:spcAft>
                <a:spcPts val="300"/>
              </a:spcAft>
              <a:buNone/>
            </a:pPr>
            <a:r>
              <a:rPr lang="en-US" sz="1400" b="1" dirty="0">
                <a:solidFill>
                  <a:schemeClr val="tx1"/>
                </a:solidFill>
                <a:latin typeface="Consolas" pitchFamily="34" charset="0"/>
                <a:ea typeface="Consolas" pitchFamily="34" charset="-122"/>
                <a:cs typeface="Consolas" pitchFamily="34" charset="-120"/>
              </a:rPr>
              <a:t>1 booked, 19 refused. Zero double-bookings.</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73152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06   TIME</a:t>
            </a:r>
            <a:endParaRPr lang="en-US" sz="1200" dirty="0"/>
          </a:p>
        </p:txBody>
      </p:sp>
      <p:sp>
        <p:nvSpPr>
          <p:cNvPr id="3" name="Text 0"/>
          <p:cNvSpPr/>
          <p:nvPr>
            <p:ph idx="101" type="title" hasCustomPrompt="1"/>
          </p:nvPr>
        </p:nvSpPr>
        <p:spPr>
          <a:xfrm>
            <a:off x="640080" y="786384"/>
            <a:ext cx="10911535" cy="731520"/>
          </a:xfrm>
          <a:prstGeom prst="rect">
            <a:avLst/>
          </a:prstGeom>
          <a:noFill/>
          <a:ln/>
        </p:spPr>
        <p:txBody>
          <a:bodyPr wrap="square" lIns="0" tIns="0" rIns="0" bIns="0" rtlCol="0" anchor="t"/>
          <a:lstStyle/>
          <a:p>
            <a:pPr algn="l" indent="0" marL="0">
              <a:buNone/>
            </a:pPr>
            <a:r>
              <a:rPr lang="en-US" sz="3200" b="1" dirty="0">
                <a:solidFill>
                  <a:schemeClr val="tx1"/>
                </a:solidFill>
              </a:rPr>
              <a:t>Booked in the restaurant's time, not the guest's</a:t>
            </a:r>
            <a:endParaRPr lang="en-US" sz="3200" dirty="0"/>
          </a:p>
        </p:txBody>
      </p:sp>
      <p:sp>
        <p:nvSpPr>
          <p:cNvPr id="4" name="Booking start shown in UTC and in restaurant time mat"/>
          <p:cNvSpPr/>
          <p:nvPr/>
        </p:nvSpPr>
        <p:spPr>
          <a:xfrm>
            <a:off x="640080" y="1783080"/>
            <a:ext cx="5669280" cy="2743200"/>
          </a:xfrm>
          <a:prstGeom prst="roundRect">
            <a:avLst>
              <a:gd name="adj" fmla="val 4000"/>
            </a:avLst>
          </a:prstGeom>
          <a:solidFill>
            <a:srgbClr val="FFE6D8"/>
          </a:solidFill>
          <a:ln w="9525">
            <a:solidFill>
              <a:schemeClr val="accent2"/>
            </a:solidFill>
            <a:prstDash val="solid"/>
          </a:ln>
        </p:spPr>
      </p:sp>
      <p:pic>
        <p:nvPicPr>
          <p:cNvPr id="5" name="Booking start shown in UTC and in restaurant time" descr="Booking start shown in UTC and in restaurant time">    </p:cNvPr>
          <p:cNvPicPr>
            <a:picLocks noChangeAspect="1"/>
          </p:cNvPicPr>
          <p:nvPr/>
        </p:nvPicPr>
        <p:blipFill>
          <a:blip r:embed="rId1"/>
          <a:srcRect l="3743" r="3743" t="18974" b="34188"/>
          <a:stretch/>
        </p:blipFill>
        <p:spPr>
          <a:xfrm>
            <a:off x="786384" y="1962764"/>
            <a:ext cx="5376672" cy="2383832"/>
          </a:xfrm>
          <a:prstGeom prst="rect">
            <a:avLst/>
          </a:prstGeom>
        </p:spPr>
      </p:pic>
      <p:sp>
        <p:nvSpPr>
          <p:cNvPr id="6" name="Time caption"/>
          <p:cNvSpPr txBox="1"/>
          <p:nvPr/>
        </p:nvSpPr>
        <p:spPr>
          <a:xfrm>
            <a:off x="640080" y="4800600"/>
            <a:ext cx="5669280" cy="73152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Stored once in UTC. Shown in the restaurant's own time zone, whatever device the guest uses.</a:t>
            </a:r>
            <a:endParaRPr lang="en-US" sz="1500" dirty="0"/>
          </a:p>
        </p:txBody>
      </p:sp>
      <p:sp>
        <p:nvSpPr>
          <p:cNvPr id="7" name="Time divider"/>
          <p:cNvSpPr/>
          <p:nvPr/>
        </p:nvSpPr>
        <p:spPr>
          <a:xfrm>
            <a:off x="6675120" y="1828800"/>
            <a:ext cx="0" cy="4206240"/>
          </a:xfrm>
          <a:prstGeom prst="line">
            <a:avLst/>
          </a:prstGeom>
          <a:noFill/>
          <a:ln w="9525">
            <a:solidFill>
              <a:schemeClr val="accent2"/>
            </a:solidFill>
            <a:prstDash val="solid"/>
          </a:ln>
        </p:spPr>
      </p:sp>
      <p:sp>
        <p:nvSpPr>
          <p:cNvPr id="8" name="Time rule 1 heading"/>
          <p:cNvSpPr txBox="1"/>
          <p:nvPr/>
        </p:nvSpPr>
        <p:spPr>
          <a:xfrm>
            <a:off x="6995160" y="1828800"/>
            <a:ext cx="4556455" cy="365760"/>
          </a:xfrm>
          <a:prstGeom prst="rect">
            <a:avLst/>
          </a:prstGeom>
          <a:noFill/>
          <a:ln/>
        </p:spPr>
        <p:txBody>
          <a:bodyPr wrap="square" lIns="0" tIns="0" rIns="0" bIns="0" rtlCol="0" anchor="t"/>
          <a:lstStyle/>
          <a:p>
            <a:pPr indent="0" marL="0">
              <a:buNone/>
            </a:pPr>
            <a:r>
              <a:rPr lang="en-US" sz="1800" b="1" dirty="0">
                <a:solidFill>
                  <a:schemeClr val="tx1"/>
                </a:solidFill>
              </a:rPr>
              <a:t>Spring forward</a:t>
            </a:r>
            <a:endParaRPr lang="en-US" sz="1800" dirty="0"/>
          </a:p>
        </p:txBody>
      </p:sp>
      <p:sp>
        <p:nvSpPr>
          <p:cNvPr id="9" name="Time rule 1 body"/>
          <p:cNvSpPr txBox="1"/>
          <p:nvPr/>
        </p:nvSpPr>
        <p:spPr>
          <a:xfrm>
            <a:off x="6995160" y="2240280"/>
            <a:ext cx="4556455" cy="73152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02:30 on a spring-forward night does not exist. It is refused, never guessed.</a:t>
            </a:r>
            <a:endParaRPr lang="en-US" sz="1500" dirty="0"/>
          </a:p>
        </p:txBody>
      </p:sp>
      <p:sp>
        <p:nvSpPr>
          <p:cNvPr id="10" name="Time rule divider 1"/>
          <p:cNvSpPr/>
          <p:nvPr/>
        </p:nvSpPr>
        <p:spPr>
          <a:xfrm>
            <a:off x="6995160" y="3063240"/>
            <a:ext cx="4556455" cy="0"/>
          </a:xfrm>
          <a:prstGeom prst="line">
            <a:avLst/>
          </a:prstGeom>
          <a:noFill/>
          <a:ln w="9525">
            <a:solidFill>
              <a:schemeClr val="accent2"/>
            </a:solidFill>
            <a:prstDash val="solid"/>
          </a:ln>
        </p:spPr>
      </p:sp>
      <p:sp>
        <p:nvSpPr>
          <p:cNvPr id="11" name="Time rule 2 heading"/>
          <p:cNvSpPr txBox="1"/>
          <p:nvPr/>
        </p:nvSpPr>
        <p:spPr>
          <a:xfrm>
            <a:off x="6995160" y="3246120"/>
            <a:ext cx="4556455" cy="365760"/>
          </a:xfrm>
          <a:prstGeom prst="rect">
            <a:avLst/>
          </a:prstGeom>
          <a:noFill/>
          <a:ln/>
        </p:spPr>
        <p:txBody>
          <a:bodyPr wrap="square" lIns="0" tIns="0" rIns="0" bIns="0" rtlCol="0" anchor="t"/>
          <a:lstStyle/>
          <a:p>
            <a:pPr indent="0" marL="0">
              <a:buNone/>
            </a:pPr>
            <a:r>
              <a:rPr lang="en-US" sz="1800" b="1" dirty="0">
                <a:solidFill>
                  <a:schemeClr val="tx1"/>
                </a:solidFill>
              </a:rPr>
              <a:t>Fall back</a:t>
            </a:r>
            <a:endParaRPr lang="en-US" sz="1800" dirty="0"/>
          </a:p>
        </p:txBody>
      </p:sp>
      <p:sp>
        <p:nvSpPr>
          <p:cNvPr id="12" name="Time rule 2 body"/>
          <p:cNvSpPr txBox="1"/>
          <p:nvPr/>
        </p:nvSpPr>
        <p:spPr>
          <a:xfrm>
            <a:off x="6995160" y="3657600"/>
            <a:ext cx="4556455" cy="73152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01:30 on a fall-back night happens twice. The request must say which one.</a:t>
            </a:r>
            <a:endParaRPr lang="en-US" sz="1500" dirty="0"/>
          </a:p>
        </p:txBody>
      </p:sp>
      <p:sp>
        <p:nvSpPr>
          <p:cNvPr id="13" name="Time rule divider 2"/>
          <p:cNvSpPr/>
          <p:nvPr/>
        </p:nvSpPr>
        <p:spPr>
          <a:xfrm>
            <a:off x="6995160" y="4480560"/>
            <a:ext cx="4556455" cy="0"/>
          </a:xfrm>
          <a:prstGeom prst="line">
            <a:avLst/>
          </a:prstGeom>
          <a:noFill/>
          <a:ln w="9525">
            <a:solidFill>
              <a:schemeClr val="accent2"/>
            </a:solidFill>
            <a:prstDash val="solid"/>
          </a:ln>
        </p:spPr>
      </p:sp>
      <p:sp>
        <p:nvSpPr>
          <p:cNvPr id="14" name="Time rule 3 heading"/>
          <p:cNvSpPr txBox="1"/>
          <p:nvPr/>
        </p:nvSpPr>
        <p:spPr>
          <a:xfrm>
            <a:off x="6995160" y="4663440"/>
            <a:ext cx="4556455" cy="365760"/>
          </a:xfrm>
          <a:prstGeom prst="rect">
            <a:avLst/>
          </a:prstGeom>
          <a:noFill/>
          <a:ln/>
        </p:spPr>
        <p:txBody>
          <a:bodyPr wrap="square" lIns="0" tIns="0" rIns="0" bIns="0" rtlCol="0" anchor="t"/>
          <a:lstStyle/>
          <a:p>
            <a:pPr indent="0" marL="0">
              <a:buNone/>
            </a:pPr>
            <a:r>
              <a:rPr lang="en-US" sz="1800" b="1" dirty="0">
                <a:solidFill>
                  <a:schemeClr val="tx1"/>
                </a:solidFill>
              </a:rPr>
              <a:t>Any zone, any server</a:t>
            </a:r>
            <a:endParaRPr lang="en-US" sz="1800" dirty="0"/>
          </a:p>
        </p:txBody>
      </p:sp>
      <p:sp>
        <p:nvSpPr>
          <p:cNvPr id="15" name="Time rule 3 body"/>
          <p:cNvSpPr txBox="1"/>
          <p:nvPr/>
        </p:nvSpPr>
        <p:spPr>
          <a:xfrm>
            <a:off x="6995160" y="5074920"/>
            <a:ext cx="4556455" cy="73152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Tested with zones like Kathmandu (+05:45). The server's own time zone plays no part.</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73152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07   EXPERIENCE</a:t>
            </a:r>
            <a:endParaRPr lang="en-US" sz="1200" dirty="0"/>
          </a:p>
        </p:txBody>
      </p:sp>
      <p:sp>
        <p:nvSpPr>
          <p:cNvPr id="3" name="Text 0"/>
          <p:cNvSpPr/>
          <p:nvPr>
            <p:ph idx="101" type="title" hasCustomPrompt="1"/>
          </p:nvPr>
        </p:nvSpPr>
        <p:spPr>
          <a:xfrm>
            <a:off x="640080" y="786384"/>
            <a:ext cx="10911535" cy="731520"/>
          </a:xfrm>
          <a:prstGeom prst="rect">
            <a:avLst/>
          </a:prstGeom>
          <a:noFill/>
          <a:ln/>
        </p:spPr>
        <p:txBody>
          <a:bodyPr wrap="square" lIns="0" tIns="0" rIns="0" bIns="0" rtlCol="0" anchor="t"/>
          <a:lstStyle/>
          <a:p>
            <a:pPr algn="l" indent="0" marL="0">
              <a:buNone/>
            </a:pPr>
            <a:r>
              <a:rPr lang="en-US" sz="3200" b="1" dirty="0">
                <a:solidFill>
                  <a:schemeClr val="tx1"/>
                </a:solidFill>
              </a:rPr>
              <a:t>Soft, clear, and at home on any screen</a:t>
            </a:r>
            <a:endParaRPr lang="en-US" sz="3200" dirty="0"/>
          </a:p>
        </p:txBody>
      </p:sp>
      <p:sp>
        <p:nvSpPr>
          <p:cNvPr id="4" name="Light theme screenshot mat"/>
          <p:cNvSpPr/>
          <p:nvPr/>
        </p:nvSpPr>
        <p:spPr>
          <a:xfrm>
            <a:off x="640080" y="1737360"/>
            <a:ext cx="4206240" cy="3383280"/>
          </a:xfrm>
          <a:prstGeom prst="roundRect">
            <a:avLst>
              <a:gd name="adj" fmla="val 3243"/>
            </a:avLst>
          </a:prstGeom>
          <a:solidFill>
            <a:schemeClr val="accent3"/>
          </a:solidFill>
          <a:ln w="9525">
            <a:solidFill>
              <a:schemeClr val="accent2"/>
            </a:solidFill>
            <a:prstDash val="solid"/>
          </a:ln>
        </p:spPr>
      </p:sp>
      <p:pic>
        <p:nvPicPr>
          <p:cNvPr id="5" name="Light theme screenshot" descr="Light theme screenshot">    </p:cNvPr>
          <p:cNvPicPr>
            <a:picLocks noChangeAspect="1"/>
          </p:cNvPicPr>
          <p:nvPr/>
        </p:nvPicPr>
        <p:blipFill>
          <a:blip r:embed="rId1"/>
          <a:srcRect l="10429" r="10429" t="0" b="6977"/>
          <a:stretch/>
        </p:blipFill>
        <p:spPr>
          <a:xfrm>
            <a:off x="786384" y="1883664"/>
            <a:ext cx="3913632" cy="3090672"/>
          </a:xfrm>
          <a:prstGeom prst="rect">
            <a:avLst/>
          </a:prstGeom>
        </p:spPr>
      </p:pic>
      <p:sp>
        <p:nvSpPr>
          <p:cNvPr id="6" name="Experience 1 heading"/>
          <p:cNvSpPr txBox="1"/>
          <p:nvPr/>
        </p:nvSpPr>
        <p:spPr>
          <a:xfrm>
            <a:off x="640080" y="5303520"/>
            <a:ext cx="4206240" cy="320040"/>
          </a:xfrm>
          <a:prstGeom prst="rect">
            <a:avLst/>
          </a:prstGeom>
          <a:noFill/>
          <a:ln/>
        </p:spPr>
        <p:txBody>
          <a:bodyPr wrap="square" lIns="0" tIns="0" rIns="0" bIns="0" rtlCol="0" anchor="t"/>
          <a:lstStyle/>
          <a:p>
            <a:pPr indent="0" marL="0">
              <a:buNone/>
            </a:pPr>
            <a:r>
              <a:rPr lang="en-US" sz="1600" b="1" dirty="0">
                <a:solidFill>
                  <a:schemeClr val="tx1"/>
                </a:solidFill>
              </a:rPr>
              <a:t>Light</a:t>
            </a:r>
            <a:endParaRPr lang="en-US" sz="1600" dirty="0"/>
          </a:p>
        </p:txBody>
      </p:sp>
      <p:sp>
        <p:nvSpPr>
          <p:cNvPr id="7" name="Experience 1 body"/>
          <p:cNvSpPr txBox="1"/>
          <p:nvPr/>
        </p:nvSpPr>
        <p:spPr>
          <a:xfrm>
            <a:off x="640080" y="5650992"/>
            <a:ext cx="4206240" cy="457200"/>
          </a:xfrm>
          <a:prstGeom prst="rect">
            <a:avLst/>
          </a:prstGeom>
          <a:noFill/>
          <a:ln/>
        </p:spPr>
        <p:txBody>
          <a:bodyPr wrap="square" lIns="0" tIns="0" rIns="0" bIns="0" rtlCol="0" anchor="t"/>
          <a:lstStyle/>
          <a:p>
            <a:pPr indent="0" marL="0">
              <a:buNone/>
            </a:pPr>
            <a:r>
              <a:rPr lang="en-US" sz="1400" dirty="0">
                <a:solidFill>
                  <a:schemeClr val="tx2"/>
                </a:solidFill>
              </a:rPr>
              <a:t>Pastel steps and a cursor that follows you.</a:t>
            </a:r>
            <a:endParaRPr lang="en-US" sz="1400" dirty="0"/>
          </a:p>
        </p:txBody>
      </p:sp>
      <p:sp>
        <p:nvSpPr>
          <p:cNvPr id="8" name="Dark theme screenshot mat"/>
          <p:cNvSpPr/>
          <p:nvPr/>
        </p:nvSpPr>
        <p:spPr>
          <a:xfrm>
            <a:off x="5204308" y="1737360"/>
            <a:ext cx="4206240" cy="3383280"/>
          </a:xfrm>
          <a:prstGeom prst="roundRect">
            <a:avLst>
              <a:gd name="adj" fmla="val 3243"/>
            </a:avLst>
          </a:prstGeom>
          <a:solidFill>
            <a:schemeClr val="accent3"/>
          </a:solidFill>
          <a:ln w="9525">
            <a:solidFill>
              <a:schemeClr val="accent2"/>
            </a:solidFill>
            <a:prstDash val="solid"/>
          </a:ln>
        </p:spPr>
      </p:sp>
      <p:pic>
        <p:nvPicPr>
          <p:cNvPr id="9" name="Dark theme screenshot" descr="Dark theme screenshot">    </p:cNvPr>
          <p:cNvPicPr>
            <a:picLocks noChangeAspect="1"/>
          </p:cNvPicPr>
          <p:nvPr/>
        </p:nvPicPr>
        <p:blipFill>
          <a:blip r:embed="rId2"/>
          <a:srcRect l="10429" r="10429" t="0" b="6977"/>
          <a:stretch/>
        </p:blipFill>
        <p:spPr>
          <a:xfrm>
            <a:off x="5350612" y="1883664"/>
            <a:ext cx="3913632" cy="3090672"/>
          </a:xfrm>
          <a:prstGeom prst="rect">
            <a:avLst/>
          </a:prstGeom>
        </p:spPr>
      </p:pic>
      <p:sp>
        <p:nvSpPr>
          <p:cNvPr id="10" name="Experience 2 heading"/>
          <p:cNvSpPr txBox="1"/>
          <p:nvPr/>
        </p:nvSpPr>
        <p:spPr>
          <a:xfrm>
            <a:off x="5204308" y="5303520"/>
            <a:ext cx="4206240" cy="320040"/>
          </a:xfrm>
          <a:prstGeom prst="rect">
            <a:avLst/>
          </a:prstGeom>
          <a:noFill/>
          <a:ln/>
        </p:spPr>
        <p:txBody>
          <a:bodyPr wrap="square" lIns="0" tIns="0" rIns="0" bIns="0" rtlCol="0" anchor="t"/>
          <a:lstStyle/>
          <a:p>
            <a:pPr indent="0" marL="0">
              <a:buNone/>
            </a:pPr>
            <a:r>
              <a:rPr lang="en-US" sz="1600" b="1" dirty="0">
                <a:solidFill>
                  <a:schemeClr val="tx1"/>
                </a:solidFill>
              </a:rPr>
              <a:t>Dark</a:t>
            </a:r>
            <a:endParaRPr lang="en-US" sz="1600" dirty="0"/>
          </a:p>
        </p:txBody>
      </p:sp>
      <p:sp>
        <p:nvSpPr>
          <p:cNvPr id="11" name="Experience 2 body"/>
          <p:cNvSpPr txBox="1"/>
          <p:nvPr/>
        </p:nvSpPr>
        <p:spPr>
          <a:xfrm>
            <a:off x="5204308" y="5650992"/>
            <a:ext cx="4206240" cy="457200"/>
          </a:xfrm>
          <a:prstGeom prst="rect">
            <a:avLst/>
          </a:prstGeom>
          <a:noFill/>
          <a:ln/>
        </p:spPr>
        <p:txBody>
          <a:bodyPr wrap="square" lIns="0" tIns="0" rIns="0" bIns="0" rtlCol="0" anchor="t"/>
          <a:lstStyle/>
          <a:p>
            <a:pPr indent="0" marL="0">
              <a:buNone/>
            </a:pPr>
            <a:r>
              <a:rPr lang="en-US" sz="1400" dirty="0">
                <a:solidFill>
                  <a:schemeClr val="tx2"/>
                </a:solidFill>
              </a:rPr>
              <a:t>Follows the system setting automatically.</a:t>
            </a:r>
            <a:endParaRPr lang="en-US" sz="1400" dirty="0"/>
          </a:p>
        </p:txBody>
      </p:sp>
      <p:sp>
        <p:nvSpPr>
          <p:cNvPr id="12" name="Phone theme screenshot mat"/>
          <p:cNvSpPr/>
          <p:nvPr/>
        </p:nvSpPr>
        <p:spPr>
          <a:xfrm>
            <a:off x="9768535" y="1737360"/>
            <a:ext cx="1783080" cy="3383280"/>
          </a:xfrm>
          <a:prstGeom prst="roundRect">
            <a:avLst>
              <a:gd name="adj" fmla="val 6154"/>
            </a:avLst>
          </a:prstGeom>
          <a:solidFill>
            <a:schemeClr val="accent3"/>
          </a:solidFill>
          <a:ln w="9525">
            <a:solidFill>
              <a:schemeClr val="accent2"/>
            </a:solidFill>
            <a:prstDash val="solid"/>
          </a:ln>
        </p:spPr>
      </p:sp>
      <p:pic>
        <p:nvPicPr>
          <p:cNvPr id="13" name="Phone theme screenshot" descr="Phone theme screenshot">    </p:cNvPr>
          <p:cNvPicPr>
            <a:picLocks noChangeAspect="1"/>
          </p:cNvPicPr>
          <p:nvPr/>
        </p:nvPicPr>
        <p:blipFill>
          <a:blip r:embed="rId3"/>
          <a:srcRect l="0" r="0" t="669" b="3512"/>
          <a:stretch/>
        </p:blipFill>
        <p:spPr>
          <a:xfrm>
            <a:off x="9914839" y="1883664"/>
            <a:ext cx="1490472" cy="3090672"/>
          </a:xfrm>
          <a:prstGeom prst="rect">
            <a:avLst/>
          </a:prstGeom>
        </p:spPr>
      </p:pic>
      <p:sp>
        <p:nvSpPr>
          <p:cNvPr id="14" name="Experience 3 heading"/>
          <p:cNvSpPr txBox="1"/>
          <p:nvPr/>
        </p:nvSpPr>
        <p:spPr>
          <a:xfrm>
            <a:off x="9768535" y="5303520"/>
            <a:ext cx="1783080" cy="320040"/>
          </a:xfrm>
          <a:prstGeom prst="rect">
            <a:avLst/>
          </a:prstGeom>
          <a:noFill/>
          <a:ln/>
        </p:spPr>
        <p:txBody>
          <a:bodyPr wrap="square" lIns="0" tIns="0" rIns="0" bIns="0" rtlCol="0" anchor="t"/>
          <a:lstStyle/>
          <a:p>
            <a:pPr indent="0" marL="0">
              <a:buNone/>
            </a:pPr>
            <a:r>
              <a:rPr lang="en-US" sz="1600" b="1" dirty="0">
                <a:solidFill>
                  <a:schemeClr val="tx1"/>
                </a:solidFill>
              </a:rPr>
              <a:t>Phone</a:t>
            </a:r>
            <a:endParaRPr lang="en-US" sz="1600" dirty="0"/>
          </a:p>
        </p:txBody>
      </p:sp>
      <p:sp>
        <p:nvSpPr>
          <p:cNvPr id="15" name="Experience 3 body"/>
          <p:cNvSpPr txBox="1"/>
          <p:nvPr/>
        </p:nvSpPr>
        <p:spPr>
          <a:xfrm>
            <a:off x="9768535" y="5650992"/>
            <a:ext cx="1783080" cy="457200"/>
          </a:xfrm>
          <a:prstGeom prst="rect">
            <a:avLst/>
          </a:prstGeom>
          <a:noFill/>
          <a:ln/>
        </p:spPr>
        <p:txBody>
          <a:bodyPr wrap="square" lIns="0" tIns="0" rIns="0" bIns="0" rtlCol="0" anchor="t"/>
          <a:lstStyle/>
          <a:p>
            <a:pPr indent="0" marL="0">
              <a:buNone/>
            </a:pPr>
            <a:r>
              <a:rPr lang="en-US" sz="1400" dirty="0">
                <a:solidFill>
                  <a:schemeClr val="tx2"/>
                </a:solidFill>
              </a:rPr>
              <a:t>One column, full-width buttons.</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73152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08   UNDER THE HOOD</a:t>
            </a:r>
            <a:endParaRPr lang="en-US" sz="1200" dirty="0"/>
          </a:p>
        </p:txBody>
      </p:sp>
      <p:sp>
        <p:nvSpPr>
          <p:cNvPr id="3" name="Text 0"/>
          <p:cNvSpPr/>
          <p:nvPr>
            <p:ph idx="101" type="title" hasCustomPrompt="1"/>
          </p:nvPr>
        </p:nvSpPr>
        <p:spPr>
          <a:xfrm>
            <a:off x="640080" y="786384"/>
            <a:ext cx="10911535" cy="731520"/>
          </a:xfrm>
          <a:prstGeom prst="rect">
            <a:avLst/>
          </a:prstGeom>
          <a:noFill/>
          <a:ln/>
        </p:spPr>
        <p:txBody>
          <a:bodyPr wrap="square" lIns="0" tIns="0" rIns="0" bIns="0" rtlCol="0" anchor="t"/>
          <a:lstStyle/>
          <a:p>
            <a:pPr algn="l" indent="0" marL="0">
              <a:buNone/>
            </a:pPr>
            <a:r>
              <a:rPr lang="en-US" sz="3200" b="1" dirty="0">
                <a:solidFill>
                  <a:schemeClr val="tx1"/>
                </a:solidFill>
              </a:rPr>
              <a:t>Built in four stages, each proven before the next</a:t>
            </a:r>
            <a:endParaRPr lang="en-US" sz="3200" dirty="0"/>
          </a:p>
        </p:txBody>
      </p:sp>
      <p:sp>
        <p:nvSpPr>
          <p:cNvPr id="4" name="Stage flow line"/>
          <p:cNvSpPr/>
          <p:nvPr/>
        </p:nvSpPr>
        <p:spPr>
          <a:xfrm>
            <a:off x="740664" y="2112264"/>
            <a:ext cx="8442655" cy="0"/>
          </a:xfrm>
          <a:prstGeom prst="line">
            <a:avLst/>
          </a:prstGeom>
          <a:noFill/>
          <a:ln w="9525">
            <a:solidFill>
              <a:schemeClr val="accent2"/>
            </a:solidFill>
            <a:prstDash val="solid"/>
          </a:ln>
        </p:spPr>
      </p:sp>
      <p:sp>
        <p:nvSpPr>
          <p:cNvPr id="5" name="Stage 1 dot"/>
          <p:cNvSpPr/>
          <p:nvPr/>
        </p:nvSpPr>
        <p:spPr>
          <a:xfrm>
            <a:off x="640080" y="2011680"/>
            <a:ext cx="201168" cy="201168"/>
          </a:xfrm>
          <a:prstGeom prst="ellipse">
            <a:avLst/>
          </a:prstGeom>
          <a:solidFill>
            <a:schemeClr val="accent1"/>
          </a:solidFill>
          <a:ln w="25400">
            <a:solidFill>
              <a:schemeClr val="bg1"/>
            </a:solidFill>
            <a:prstDash val="solid"/>
          </a:ln>
        </p:spPr>
      </p:sp>
      <p:sp>
        <p:nvSpPr>
          <p:cNvPr id="6" name="Stage 1 label"/>
          <p:cNvSpPr txBox="1"/>
          <p:nvPr/>
        </p:nvSpPr>
        <p:spPr>
          <a:xfrm>
            <a:off x="640080" y="2514600"/>
            <a:ext cx="246888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STAGE 1</a:t>
            </a:r>
            <a:endParaRPr lang="en-US" sz="1200" dirty="0"/>
          </a:p>
        </p:txBody>
      </p:sp>
      <p:sp>
        <p:nvSpPr>
          <p:cNvPr id="7" name="Stage 1 heading"/>
          <p:cNvSpPr txBox="1"/>
          <p:nvPr/>
        </p:nvSpPr>
        <p:spPr>
          <a:xfrm>
            <a:off x="640080" y="2834640"/>
            <a:ext cx="2468880" cy="411480"/>
          </a:xfrm>
          <a:prstGeom prst="rect">
            <a:avLst/>
          </a:prstGeom>
          <a:noFill/>
          <a:ln/>
        </p:spPr>
        <p:txBody>
          <a:bodyPr wrap="square" lIns="0" tIns="0" rIns="0" bIns="0" rtlCol="0" anchor="t"/>
          <a:lstStyle/>
          <a:p>
            <a:pPr indent="0" marL="0">
              <a:buNone/>
            </a:pPr>
            <a:r>
              <a:rPr lang="en-US" sz="2000" b="1" dirty="0">
                <a:solidFill>
                  <a:schemeClr val="tx1"/>
                </a:solidFill>
              </a:rPr>
              <a:t>Booking core</a:t>
            </a:r>
            <a:endParaRPr lang="en-US" sz="2000" dirty="0"/>
          </a:p>
        </p:txBody>
      </p:sp>
      <p:sp>
        <p:nvSpPr>
          <p:cNvPr id="8" name="Stage 1 body"/>
          <p:cNvSpPr txBox="1"/>
          <p:nvPr/>
        </p:nvSpPr>
        <p:spPr>
          <a:xfrm>
            <a:off x="640080" y="3337560"/>
            <a:ext cx="2468880" cy="160020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The no-double-booking guarantee, proven with 12 processes racing one database file.</a:t>
            </a:r>
            <a:endParaRPr lang="en-US" sz="1500" dirty="0"/>
          </a:p>
        </p:txBody>
      </p:sp>
      <p:sp>
        <p:nvSpPr>
          <p:cNvPr id="9" name="Stage 2 dot"/>
          <p:cNvSpPr/>
          <p:nvPr/>
        </p:nvSpPr>
        <p:spPr>
          <a:xfrm>
            <a:off x="3454298" y="2011680"/>
            <a:ext cx="201168" cy="201168"/>
          </a:xfrm>
          <a:prstGeom prst="ellipse">
            <a:avLst/>
          </a:prstGeom>
          <a:solidFill>
            <a:schemeClr val="accent1"/>
          </a:solidFill>
          <a:ln w="25400">
            <a:solidFill>
              <a:schemeClr val="bg1"/>
            </a:solidFill>
            <a:prstDash val="solid"/>
          </a:ln>
        </p:spPr>
      </p:sp>
      <p:sp>
        <p:nvSpPr>
          <p:cNvPr id="10" name="Stage 2 label"/>
          <p:cNvSpPr txBox="1"/>
          <p:nvPr/>
        </p:nvSpPr>
        <p:spPr>
          <a:xfrm>
            <a:off x="3454298" y="2514600"/>
            <a:ext cx="246888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STAGE 2</a:t>
            </a:r>
            <a:endParaRPr lang="en-US" sz="1200" dirty="0"/>
          </a:p>
        </p:txBody>
      </p:sp>
      <p:sp>
        <p:nvSpPr>
          <p:cNvPr id="11" name="Stage 2 heading"/>
          <p:cNvSpPr txBox="1"/>
          <p:nvPr/>
        </p:nvSpPr>
        <p:spPr>
          <a:xfrm>
            <a:off x="3454298" y="2834640"/>
            <a:ext cx="2468880" cy="411480"/>
          </a:xfrm>
          <a:prstGeom prst="rect">
            <a:avLst/>
          </a:prstGeom>
          <a:noFill/>
          <a:ln/>
        </p:spPr>
        <p:txBody>
          <a:bodyPr wrap="square" lIns="0" tIns="0" rIns="0" bIns="0" rtlCol="0" anchor="t"/>
          <a:lstStyle/>
          <a:p>
            <a:pPr indent="0" marL="0">
              <a:buNone/>
            </a:pPr>
            <a:r>
              <a:rPr lang="en-US" sz="2000" b="1" dirty="0">
                <a:solidFill>
                  <a:schemeClr val="tx1"/>
                </a:solidFill>
              </a:rPr>
              <a:t>Availability search</a:t>
            </a:r>
            <a:endParaRPr lang="en-US" sz="2000" dirty="0"/>
          </a:p>
        </p:txBody>
      </p:sp>
      <p:sp>
        <p:nvSpPr>
          <p:cNvPr id="12" name="Stage 2 body"/>
          <p:cNvSpPr txBox="1"/>
          <p:nvPr/>
        </p:nvSpPr>
        <p:spPr>
          <a:xfrm>
            <a:off x="3454298" y="3337560"/>
            <a:ext cx="2468880" cy="160020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Search never offers a slot the booking step would refuse. A parity test proves it.</a:t>
            </a:r>
            <a:endParaRPr lang="en-US" sz="1500" dirty="0"/>
          </a:p>
        </p:txBody>
      </p:sp>
      <p:sp>
        <p:nvSpPr>
          <p:cNvPr id="13" name="Stage 3 dot"/>
          <p:cNvSpPr/>
          <p:nvPr/>
        </p:nvSpPr>
        <p:spPr>
          <a:xfrm>
            <a:off x="6268517" y="2011680"/>
            <a:ext cx="201168" cy="201168"/>
          </a:xfrm>
          <a:prstGeom prst="ellipse">
            <a:avLst/>
          </a:prstGeom>
          <a:solidFill>
            <a:schemeClr val="accent1"/>
          </a:solidFill>
          <a:ln w="25400">
            <a:solidFill>
              <a:schemeClr val="bg1"/>
            </a:solidFill>
            <a:prstDash val="solid"/>
          </a:ln>
        </p:spPr>
      </p:sp>
      <p:sp>
        <p:nvSpPr>
          <p:cNvPr id="14" name="Stage 3 label"/>
          <p:cNvSpPr txBox="1"/>
          <p:nvPr/>
        </p:nvSpPr>
        <p:spPr>
          <a:xfrm>
            <a:off x="6268517" y="2514600"/>
            <a:ext cx="246888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STAGE 3</a:t>
            </a:r>
            <a:endParaRPr lang="en-US" sz="1200" dirty="0"/>
          </a:p>
        </p:txBody>
      </p:sp>
      <p:sp>
        <p:nvSpPr>
          <p:cNvPr id="15" name="Stage 3 heading"/>
          <p:cNvSpPr txBox="1"/>
          <p:nvPr/>
        </p:nvSpPr>
        <p:spPr>
          <a:xfrm>
            <a:off x="6268517" y="2834640"/>
            <a:ext cx="2468880" cy="411480"/>
          </a:xfrm>
          <a:prstGeom prst="rect">
            <a:avLst/>
          </a:prstGeom>
          <a:noFill/>
          <a:ln/>
        </p:spPr>
        <p:txBody>
          <a:bodyPr wrap="square" lIns="0" tIns="0" rIns="0" bIns="0" rtlCol="0" anchor="t"/>
          <a:lstStyle/>
          <a:p>
            <a:pPr indent="0" marL="0">
              <a:buNone/>
            </a:pPr>
            <a:r>
              <a:rPr lang="en-US" sz="2000" b="1" dirty="0">
                <a:solidFill>
                  <a:schemeClr val="tx1"/>
                </a:solidFill>
              </a:rPr>
              <a:t>Hardening</a:t>
            </a:r>
            <a:endParaRPr lang="en-US" sz="2000" dirty="0"/>
          </a:p>
        </p:txBody>
      </p:sp>
      <p:sp>
        <p:nvSpPr>
          <p:cNvPr id="16" name="Stage 3 body"/>
          <p:cNvSpPr txBox="1"/>
          <p:nvPr/>
        </p:nvSpPr>
        <p:spPr>
          <a:xfrm>
            <a:off x="6268517" y="3337560"/>
            <a:ext cx="2468880" cy="160020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Auth, rate limits, an audit trail, migrations and a wide time zone suite.</a:t>
            </a:r>
            <a:endParaRPr lang="en-US" sz="1500" dirty="0"/>
          </a:p>
        </p:txBody>
      </p:sp>
      <p:sp>
        <p:nvSpPr>
          <p:cNvPr id="17" name="Stage 4 dot"/>
          <p:cNvSpPr/>
          <p:nvPr/>
        </p:nvSpPr>
        <p:spPr>
          <a:xfrm>
            <a:off x="9082735" y="2011680"/>
            <a:ext cx="201168" cy="201168"/>
          </a:xfrm>
          <a:prstGeom prst="ellipse">
            <a:avLst/>
          </a:prstGeom>
          <a:solidFill>
            <a:schemeClr val="accent1"/>
          </a:solidFill>
          <a:ln w="25400">
            <a:solidFill>
              <a:schemeClr val="bg1"/>
            </a:solidFill>
            <a:prstDash val="solid"/>
          </a:ln>
        </p:spPr>
      </p:sp>
      <p:sp>
        <p:nvSpPr>
          <p:cNvPr id="18" name="Stage 4 label"/>
          <p:cNvSpPr txBox="1"/>
          <p:nvPr/>
        </p:nvSpPr>
        <p:spPr>
          <a:xfrm>
            <a:off x="9082735" y="2514600"/>
            <a:ext cx="246888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STAGE 4</a:t>
            </a:r>
            <a:endParaRPr lang="en-US" sz="1200" dirty="0"/>
          </a:p>
        </p:txBody>
      </p:sp>
      <p:sp>
        <p:nvSpPr>
          <p:cNvPr id="19" name="Stage 4 heading"/>
          <p:cNvSpPr txBox="1"/>
          <p:nvPr/>
        </p:nvSpPr>
        <p:spPr>
          <a:xfrm>
            <a:off x="9082735" y="2834640"/>
            <a:ext cx="2468880" cy="411480"/>
          </a:xfrm>
          <a:prstGeom prst="rect">
            <a:avLst/>
          </a:prstGeom>
          <a:noFill/>
          <a:ln/>
        </p:spPr>
        <p:txBody>
          <a:bodyPr wrap="square" lIns="0" tIns="0" rIns="0" bIns="0" rtlCol="0" anchor="t"/>
          <a:lstStyle/>
          <a:p>
            <a:pPr indent="0" marL="0">
              <a:buNone/>
            </a:pPr>
            <a:r>
              <a:rPr lang="en-US" sz="2000" b="1" dirty="0">
                <a:solidFill>
                  <a:schemeClr val="tx1"/>
                </a:solidFill>
              </a:rPr>
              <a:t>Product</a:t>
            </a:r>
            <a:endParaRPr lang="en-US" sz="2000" dirty="0"/>
          </a:p>
        </p:txBody>
      </p:sp>
      <p:sp>
        <p:nvSpPr>
          <p:cNvPr id="20" name="Stage 4 body"/>
          <p:cNvSpPr txBox="1"/>
          <p:nvPr/>
        </p:nvSpPr>
        <p:spPr>
          <a:xfrm>
            <a:off x="9082735" y="3337560"/>
            <a:ext cx="2468880" cy="1600200"/>
          </a:xfrm>
          <a:prstGeom prst="rect">
            <a:avLst/>
          </a:prstGeom>
          <a:noFill/>
          <a:ln/>
        </p:spPr>
        <p:txBody>
          <a:bodyPr wrap="square" lIns="0" tIns="0" rIns="0" bIns="0" rtlCol="0" anchor="t"/>
          <a:lstStyle/>
          <a:p>
            <a:pPr indent="0" marL="0">
              <a:lnSpc>
                <a:spcPct val="110000"/>
              </a:lnSpc>
              <a:buNone/>
            </a:pPr>
            <a:r>
              <a:rPr lang="en-US" sz="1500" dirty="0">
                <a:solidFill>
                  <a:schemeClr val="tx2"/>
                </a:solidFill>
              </a:rPr>
              <a:t>This interface: book, retry, confirm and cancel, in light, dark and on phones.</a:t>
            </a:r>
            <a:endParaRPr lang="en-US" sz="1500" dirty="0"/>
          </a:p>
        </p:txBody>
      </p:sp>
      <p:sp>
        <p:nvSpPr>
          <p:cNvPr id="21" name="Stages footer divider"/>
          <p:cNvSpPr/>
          <p:nvPr/>
        </p:nvSpPr>
        <p:spPr>
          <a:xfrm>
            <a:off x="640080" y="5486400"/>
            <a:ext cx="10911535" cy="0"/>
          </a:xfrm>
          <a:prstGeom prst="line">
            <a:avLst/>
          </a:prstGeom>
          <a:noFill/>
          <a:ln w="9525">
            <a:solidFill>
              <a:schemeClr val="accent2"/>
            </a:solidFill>
            <a:prstDash val="solid"/>
          </a:ln>
        </p:spPr>
      </p:sp>
      <p:sp>
        <p:nvSpPr>
          <p:cNvPr id="22" name="Stages takeaway"/>
          <p:cNvSpPr txBox="1"/>
          <p:nvPr/>
        </p:nvSpPr>
        <p:spPr>
          <a:xfrm>
            <a:off x="640080" y="5669280"/>
            <a:ext cx="10911535" cy="365760"/>
          </a:xfrm>
          <a:prstGeom prst="rect">
            <a:avLst/>
          </a:prstGeom>
          <a:noFill/>
          <a:ln/>
        </p:spPr>
        <p:txBody>
          <a:bodyPr wrap="square" lIns="0" tIns="0" rIns="0" bIns="0" rtlCol="0" anchor="t"/>
          <a:lstStyle/>
          <a:p>
            <a:pPr indent="0" marL="0">
              <a:buNone/>
            </a:pPr>
            <a:r>
              <a:rPr lang="en-US" sz="1600" i="1" dirty="0">
                <a:solidFill>
                  <a:schemeClr val="tx1"/>
                </a:solidFill>
              </a:rPr>
              <a:t>Zero runtime dependencies: just Node.js and its built-in SQLite.</a:t>
            </a:r>
            <a:endParaRPr lang="en-US" sz="16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losing kicker"/>
          <p:cNvSpPr txBox="1"/>
          <p:nvPr/>
        </p:nvSpPr>
        <p:spPr>
          <a:xfrm>
            <a:off x="640080" y="1874520"/>
            <a:ext cx="10911535" cy="274320"/>
          </a:xfrm>
          <a:prstGeom prst="rect">
            <a:avLst/>
          </a:prstGeom>
          <a:noFill/>
          <a:ln/>
        </p:spPr>
        <p:txBody>
          <a:bodyPr wrap="square" lIns="0" tIns="0" rIns="0" bIns="0" rtlCol="0" anchor="t"/>
          <a:lstStyle/>
          <a:p>
            <a:pPr algn="ctr" indent="0" marL="0">
              <a:buNone/>
            </a:pPr>
            <a:r>
              <a:rPr lang="en-US" sz="1200" b="1" spc="300" kern="0" dirty="0">
                <a:solidFill>
                  <a:schemeClr val="accent1"/>
                </a:solidFill>
              </a:rPr>
              <a:t>THANK YOU</a:t>
            </a:r>
            <a:endParaRPr lang="en-US" sz="1200" dirty="0"/>
          </a:p>
        </p:txBody>
      </p:sp>
      <p:sp>
        <p:nvSpPr>
          <p:cNvPr id="3" name="Text 0"/>
          <p:cNvSpPr/>
          <p:nvPr>
            <p:ph idx="100" type="title" hasCustomPrompt="1"/>
          </p:nvPr>
        </p:nvSpPr>
        <p:spPr>
          <a:xfrm>
            <a:off x="640080" y="2331720"/>
            <a:ext cx="10911535" cy="1097280"/>
          </a:xfrm>
          <a:prstGeom prst="rect">
            <a:avLst/>
          </a:prstGeom>
          <a:noFill/>
          <a:ln/>
        </p:spPr>
        <p:txBody>
          <a:bodyPr wrap="square" lIns="0" tIns="0" rIns="0" bIns="0" rtlCol="0" anchor="ctr"/>
          <a:lstStyle/>
          <a:p>
            <a:pPr algn="ctr" indent="0" marL="0">
              <a:buNone/>
            </a:pPr>
            <a:r>
              <a:rPr lang="en-US" sz="5400" b="1" dirty="0">
                <a:solidFill>
                  <a:schemeClr val="tx1"/>
                </a:solidFill>
              </a:rPr>
              <a:t>Zero double-bookings.</a:t>
            </a:r>
            <a:endParaRPr lang="en-US" sz="5400" dirty="0"/>
          </a:p>
        </p:txBody>
      </p:sp>
      <p:sp>
        <p:nvSpPr>
          <p:cNvPr id="4" name="Text 0"/>
          <p:cNvSpPr/>
          <p:nvPr>
            <p:ph idx="101" type="body" hasCustomPrompt="1"/>
          </p:nvPr>
        </p:nvSpPr>
        <p:spPr>
          <a:xfrm>
            <a:off x="2011680" y="3520440"/>
            <a:ext cx="8168335" cy="548640"/>
          </a:xfrm>
          <a:prstGeom prst="rect">
            <a:avLst/>
          </a:prstGeom>
          <a:noFill/>
          <a:ln/>
        </p:spPr>
        <p:txBody>
          <a:bodyPr wrap="square" lIns="0" tIns="0" rIns="0" bIns="0" rtlCol="0" anchor="t"/>
          <a:lstStyle/>
          <a:p>
            <a:pPr algn="ctr" indent="0" marL="0">
              <a:buNone/>
            </a:pPr>
            <a:r>
              <a:rPr lang="en-US" sz="2000" dirty="0">
                <a:solidFill>
                  <a:schemeClr val="tx2"/>
                </a:solidFill>
              </a:rPr>
              <a:t>Tablekeeper: restaurant reservations you can trust.</a:t>
            </a:r>
            <a:endParaRPr lang="en-US" sz="2000" dirty="0"/>
          </a:p>
        </p:txBody>
      </p:sp>
      <p:sp>
        <p:nvSpPr>
          <p:cNvPr id="5" name="Repository link">
            <a:hlinkClick r:id="rId1" tooltip=""/>
          </p:cNvPr>
          <p:cNvSpPr txBox="1"/>
          <p:nvPr/>
        </p:nvSpPr>
        <p:spPr>
          <a:xfrm>
            <a:off x="640080" y="4434840"/>
            <a:ext cx="10911535" cy="320040"/>
          </a:xfrm>
          <a:prstGeom prst="rect">
            <a:avLst/>
          </a:prstGeom>
          <a:noFill/>
          <a:ln/>
        </p:spPr>
        <p:txBody>
          <a:bodyPr wrap="square" lIns="0" tIns="0" rIns="0" bIns="0" rtlCol="0" anchor="t"/>
          <a:lstStyle/>
          <a:p>
            <a:pPr algn="ctr" indent="0" marL="0">
              <a:buNone/>
            </a:pPr>
            <a:r>
              <a:rPr lang="en-US" sz="14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github.com/natchaphat5106-collab/dark-factory-tablekeeper</a:t>
            </a:r>
            <a:endParaRPr lang="en-US" sz="1400" dirty="0"/>
          </a:p>
        </p:txBody>
      </p:sp>
    </p:spTree>
  </p:cSld>
  <p:clrMapOvr>
    <a:masterClrMapping/>
  </p:clrMapOvr>
</p:sld>
</file>

<file path=ppt/theme/theme1.xml><?xml version="1.0" encoding="utf-8"?>
<a:theme xmlns:a="http://schemas.openxmlformats.org/drawingml/2006/main" name="Tablekeeper Flow">
  <a:themeElements>
    <a:clrScheme name="Tablekeeper Flow">
      <a:dk1>
        <a:srgbClr val="1C1B22"/>
      </a:dk1>
      <a:lt1>
        <a:srgbClr val="FFFFFF"/>
      </a:lt1>
      <a:dk2>
        <a:srgbClr val="6B6878"/>
      </a:dk2>
      <a:lt2>
        <a:srgbClr val="F5F4F8"/>
      </a:lt2>
      <a:accent1>
        <a:srgbClr val="5B4FD6"/>
      </a:accent1>
      <a:accent2>
        <a:srgbClr val="E2DFEA"/>
      </a:accent2>
      <a:accent3>
        <a:srgbClr val="FBF7F1"/>
      </a:accent3>
      <a:accent4>
        <a:srgbClr val="C2364F"/>
      </a:accent4>
      <a:accent5>
        <a:srgbClr val="E9E4FB"/>
      </a:accent5>
      <a:accent6>
        <a:srgbClr val="FFDDE2"/>
      </a:accent6>
      <a:hlink>
        <a:srgbClr val="5B4FD6"/>
      </a:hlink>
      <a:folHlink>
        <a:srgbClr val="6B6878"/>
      </a:folHlink>
    </a:clrScheme>
    <a:fontScheme name="Tablekeeper Flow">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lus Jakarta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Tablekeeper - Live product demo</dc:title>
  <dc:subject>PptxGenJS Presentation</dc:subject>
  <dc:creator>Tablekeeper team</dc:creator>
  <cp:lastModifiedBy>Tablekeeper team</cp:lastModifiedBy>
  <cp:revision>1</cp:revision>
  <dcterms:created xsi:type="dcterms:W3CDTF">2026-10-05T03:47:54Z</dcterms:created>
  <dcterms:modified xsi:type="dcterms:W3CDTF">2026-10-05T03:47:54Z</dcterms:modified>
</cp:coreProperties>
</file>